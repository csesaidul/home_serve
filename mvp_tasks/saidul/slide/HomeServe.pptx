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19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5" r:id="rId12"/>
    <p:sldId id="266" r:id="rId13"/>
    <p:sldId id="267" r:id="rId14"/>
    <p:sldId id="268" r:id="rId15"/>
    <p:sldId id="269" r:id="rId16"/>
    <p:sldId id="264" r:id="rId17"/>
  </p:sldIdLst>
  <p:sldSz cx="16256000" cy="9144000"/>
  <p:notesSz cx="9144000" cy="16256000"/>
  <p:embeddedFontLst>
    <p:embeddedFont>
      <p:font typeface="Plus Jakarta Sans Bold" pitchFamily="34" charset="0"/>
      <p:bold r:id="rId21"/>
    </p:embeddedFont>
    <p:embeddedFont>
      <p:font typeface="Plus Jakarta Sans Bold" pitchFamily="34" charset="-122"/>
      <p:bold r:id="rId22"/>
    </p:embeddedFont>
    <p:embeddedFont>
      <p:font typeface="Plus Jakarta Sans Bold" pitchFamily="34" charset="-120"/>
      <p:bold r:id="rId23"/>
    </p:embeddedFont>
    <p:embeddedFont>
      <p:font typeface="Plus Jakarta Sans Medium" pitchFamily="34" charset="0"/>
      <p:regular r:id="rId24"/>
    </p:embeddedFont>
    <p:embeddedFont>
      <p:font typeface="Plus Jakarta Sans Medium" pitchFamily="34" charset="-122"/>
      <p:regular r:id="rId25"/>
    </p:embeddedFont>
    <p:embeddedFont>
      <p:font typeface="Plus Jakarta Sans Medium" pitchFamily="34" charset="-120"/>
      <p:regular r:id="rId26"/>
    </p:embeddedFont>
    <p:embeddedFont>
      <p:font typeface="Plus Jakarta Sans ExtraBold" pitchFamily="34" charset="0"/>
      <p:bold r:id="rId27"/>
    </p:embeddedFont>
    <p:embeddedFont>
      <p:font typeface="Plus Jakarta Sans ExtraBold" pitchFamily="34" charset="-122"/>
      <p:bold r:id="rId28"/>
    </p:embeddedFont>
    <p:embeddedFont>
      <p:font typeface="Plus Jakarta Sans ExtraBold" pitchFamily="34" charset="-120"/>
      <p:bold r:id="rId29"/>
    </p:embeddedFont>
    <p:embeddedFont>
      <p:font typeface="Plus Jakarta Sans SemiBold" pitchFamily="34" charset="0"/>
      <p:bold r:id="rId30"/>
    </p:embeddedFont>
    <p:embeddedFont>
      <p:font typeface="Plus Jakarta Sans SemiBold" pitchFamily="34" charset="-122"/>
      <p:bold r:id="rId31"/>
    </p:embeddedFont>
    <p:embeddedFont>
      <p:font typeface="Plus Jakarta Sans SemiBold" pitchFamily="34" charset="-120"/>
      <p:bold r:id="rId32"/>
    </p:embeddedFont>
    <p:embeddedFont>
      <p:font typeface="Plus Jakarta Sans Regular" pitchFamily="34" charset="0"/>
      <p:regular r:id="rId33"/>
    </p:embeddedFont>
    <p:embeddedFont>
      <p:font typeface="Plus Jakarta Sans Regular" pitchFamily="34" charset="-122"/>
      <p:regular r:id="rId34"/>
    </p:embeddedFont>
    <p:embeddedFont>
      <p:font typeface="Plus Jakarta Sans Regular" pitchFamily="34" charset="-120"/>
      <p:regular r:id="rId35"/>
    </p:embeddedFont>
    <p:embeddedFont>
      <p:font typeface="Calibri" panose="020F0502020204030204" charset="0"/>
      <p:regular r:id="rId36"/>
      <p:bold r:id="rId37"/>
      <p:italic r:id="rId38"/>
      <p:boldItalic r:id="rId3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9" Type="http://schemas.openxmlformats.org/officeDocument/2006/relationships/font" Target="fonts/font19.fntdata"/><Relationship Id="rId38" Type="http://schemas.openxmlformats.org/officeDocument/2006/relationships/font" Target="fonts/font18.fntdata"/><Relationship Id="rId37" Type="http://schemas.openxmlformats.org/officeDocument/2006/relationships/font" Target="fonts/font17.fntdata"/><Relationship Id="rId36" Type="http://schemas.openxmlformats.org/officeDocument/2006/relationships/font" Target="fonts/font16.fntdata"/><Relationship Id="rId35" Type="http://schemas.openxmlformats.org/officeDocument/2006/relationships/font" Target="fonts/font15.fntdata"/><Relationship Id="rId34" Type="http://schemas.openxmlformats.org/officeDocument/2006/relationships/font" Target="fonts/font14.fntdata"/><Relationship Id="rId33" Type="http://schemas.openxmlformats.org/officeDocument/2006/relationships/font" Target="fonts/font13.fntdata"/><Relationship Id="rId32" Type="http://schemas.openxmlformats.org/officeDocument/2006/relationships/font" Target="fonts/font12.fntdata"/><Relationship Id="rId31" Type="http://schemas.openxmlformats.org/officeDocument/2006/relationships/font" Target="fonts/font11.fntdata"/><Relationship Id="rId30" Type="http://schemas.openxmlformats.org/officeDocument/2006/relationships/font" Target="fonts/font10.fntdata"/><Relationship Id="rId3" Type="http://schemas.openxmlformats.org/officeDocument/2006/relationships/slide" Target="slides/slide1.xml"/><Relationship Id="rId29" Type="http://schemas.openxmlformats.org/officeDocument/2006/relationships/font" Target="fonts/font9.fntdata"/><Relationship Id="rId28" Type="http://schemas.openxmlformats.org/officeDocument/2006/relationships/font" Target="fonts/font8.fntdata"/><Relationship Id="rId27" Type="http://schemas.openxmlformats.org/officeDocument/2006/relationships/font" Target="fonts/font7.fntdata"/><Relationship Id="rId26" Type="http://schemas.openxmlformats.org/officeDocument/2006/relationships/font" Target="fonts/font6.fntdata"/><Relationship Id="rId25" Type="http://schemas.openxmlformats.org/officeDocument/2006/relationships/font" Target="fonts/font5.fntdata"/><Relationship Id="rId24" Type="http://schemas.openxmlformats.org/officeDocument/2006/relationships/font" Target="fonts/font4.fntdata"/><Relationship Id="rId23" Type="http://schemas.openxmlformats.org/officeDocument/2006/relationships/font" Target="fonts/font3.fntdata"/><Relationship Id="rId22" Type="http://schemas.openxmlformats.org/officeDocument/2006/relationships/font" Target="fonts/font2.fntdata"/><Relationship Id="rId21" Type="http://schemas.openxmlformats.org/officeDocument/2006/relationships/font" Target="fonts/font1.fntdata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1" Type="http://schemas.openxmlformats.org/officeDocument/2006/relationships/notesSlide" Target="../notesSlides/notesSlide1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image" Target="../media/image16.png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image" Target="../media/image21.jpeg"/><Relationship Id="rId7" Type="http://schemas.openxmlformats.org/officeDocument/2006/relationships/image" Target="../media/image20.jpeg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2" Type="http://schemas.openxmlformats.org/officeDocument/2006/relationships/notesSlide" Target="../notesSlides/notesSlide3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23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png"/><Relationship Id="rId8" Type="http://schemas.openxmlformats.org/officeDocument/2006/relationships/image" Target="../media/image27.png"/><Relationship Id="rId7" Type="http://schemas.openxmlformats.org/officeDocument/2006/relationships/image" Target="../media/image26.png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6" Type="http://schemas.openxmlformats.org/officeDocument/2006/relationships/notesSlide" Target="../notesSlides/notesSlide4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33.png"/><Relationship Id="rId13" Type="http://schemas.openxmlformats.org/officeDocument/2006/relationships/image" Target="../media/image32.png"/><Relationship Id="rId12" Type="http://schemas.openxmlformats.org/officeDocument/2006/relationships/image" Target="../media/image31.png"/><Relationship Id="rId11" Type="http://schemas.openxmlformats.org/officeDocument/2006/relationships/image" Target="../media/image30.png"/><Relationship Id="rId10" Type="http://schemas.openxmlformats.org/officeDocument/2006/relationships/image" Target="../media/image29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8.png"/><Relationship Id="rId8" Type="http://schemas.openxmlformats.org/officeDocument/2006/relationships/image" Target="../media/image37.png"/><Relationship Id="rId7" Type="http://schemas.openxmlformats.org/officeDocument/2006/relationships/image" Target="../media/image36.png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1" Type="http://schemas.openxmlformats.org/officeDocument/2006/relationships/notesSlide" Target="../notesSlides/notesSlide5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1.png"/><Relationship Id="rId8" Type="http://schemas.openxmlformats.org/officeDocument/2006/relationships/image" Target="../media/image40.png"/><Relationship Id="rId7" Type="http://schemas.openxmlformats.org/officeDocument/2006/relationships/image" Target="../media/image39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6" Type="http://schemas.openxmlformats.org/officeDocument/2006/relationships/notesSlide" Target="../notesSlides/notesSlide6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27.png"/><Relationship Id="rId13" Type="http://schemas.openxmlformats.org/officeDocument/2006/relationships/image" Target="../media/image26.png"/><Relationship Id="rId12" Type="http://schemas.openxmlformats.org/officeDocument/2006/relationships/image" Target="../media/image44.png"/><Relationship Id="rId11" Type="http://schemas.openxmlformats.org/officeDocument/2006/relationships/image" Target="../media/image43.png"/><Relationship Id="rId10" Type="http://schemas.openxmlformats.org/officeDocument/2006/relationships/image" Target="../media/image4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7.png"/><Relationship Id="rId8" Type="http://schemas.openxmlformats.org/officeDocument/2006/relationships/image" Target="../media/image46.png"/><Relationship Id="rId7" Type="http://schemas.openxmlformats.org/officeDocument/2006/relationships/image" Target="../media/image45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3.png"/><Relationship Id="rId20" Type="http://schemas.openxmlformats.org/officeDocument/2006/relationships/notesSlide" Target="../notesSlides/notesSlide7.xml"/><Relationship Id="rId2" Type="http://schemas.openxmlformats.org/officeDocument/2006/relationships/image" Target="../media/image2.pn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56.png"/><Relationship Id="rId17" Type="http://schemas.openxmlformats.org/officeDocument/2006/relationships/image" Target="../media/image55.png"/><Relationship Id="rId16" Type="http://schemas.openxmlformats.org/officeDocument/2006/relationships/image" Target="../media/image54.png"/><Relationship Id="rId15" Type="http://schemas.openxmlformats.org/officeDocument/2006/relationships/image" Target="../media/image53.png"/><Relationship Id="rId14" Type="http://schemas.openxmlformats.org/officeDocument/2006/relationships/image" Target="../media/image52.png"/><Relationship Id="rId13" Type="http://schemas.openxmlformats.org/officeDocument/2006/relationships/image" Target="../media/image51.png"/><Relationship Id="rId12" Type="http://schemas.openxmlformats.org/officeDocument/2006/relationships/image" Target="../media/image50.png"/><Relationship Id="rId11" Type="http://schemas.openxmlformats.org/officeDocument/2006/relationships/image" Target="../media/image49.png"/><Relationship Id="rId10" Type="http://schemas.openxmlformats.org/officeDocument/2006/relationships/image" Target="../media/image48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59.png"/><Relationship Id="rId8" Type="http://schemas.openxmlformats.org/officeDocument/2006/relationships/image" Target="../media/image58.png"/><Relationship Id="rId7" Type="http://schemas.openxmlformats.org/officeDocument/2006/relationships/image" Target="../media/image57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2" Type="http://schemas.openxmlformats.org/officeDocument/2006/relationships/notesSlide" Target="../notesSlides/notesSlide8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60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62.png"/><Relationship Id="rId8" Type="http://schemas.openxmlformats.org/officeDocument/2006/relationships/image" Target="../media/image17.png"/><Relationship Id="rId7" Type="http://schemas.openxmlformats.org/officeDocument/2006/relationships/image" Target="../media/image61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5" Type="http://schemas.openxmlformats.org/officeDocument/2006/relationships/notesSlide" Target="../notesSlides/notesSlide9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66.png"/><Relationship Id="rId12" Type="http://schemas.openxmlformats.org/officeDocument/2006/relationships/image" Target="../media/image65.png"/><Relationship Id="rId11" Type="http://schemas.openxmlformats.org/officeDocument/2006/relationships/image" Target="../media/image64.png"/><Relationship Id="rId10" Type="http://schemas.openxmlformats.org/officeDocument/2006/relationships/image" Target="../media/image63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69.png"/><Relationship Id="rId8" Type="http://schemas.openxmlformats.org/officeDocument/2006/relationships/image" Target="../media/image68.png"/><Relationship Id="rId7" Type="http://schemas.openxmlformats.org/officeDocument/2006/relationships/image" Target="../media/image67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4" Type="http://schemas.openxmlformats.org/officeDocument/2006/relationships/notesSlide" Target="../notesSlides/notesSlide10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72.png"/><Relationship Id="rId11" Type="http://schemas.openxmlformats.org/officeDocument/2006/relationships/image" Target="../media/image71.png"/><Relationship Id="rId10" Type="http://schemas.openxmlformats.org/officeDocument/2006/relationships/image" Target="../media/image70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75.png"/><Relationship Id="rId8" Type="http://schemas.openxmlformats.org/officeDocument/2006/relationships/image" Target="../media/image74.png"/><Relationship Id="rId7" Type="http://schemas.openxmlformats.org/officeDocument/2006/relationships/image" Target="../media/image7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1" Type="http://schemas.openxmlformats.org/officeDocument/2006/relationships/notesSlide" Target="../notesSlides/notesSlide11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78.png"/><Relationship Id="rId8" Type="http://schemas.openxmlformats.org/officeDocument/2006/relationships/image" Target="../media/image77.png"/><Relationship Id="rId7" Type="http://schemas.openxmlformats.org/officeDocument/2006/relationships/image" Target="../media/image76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1" Type="http://schemas.openxmlformats.org/officeDocument/2006/relationships/notesSlide" Target="../notesSlides/notesSlide12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81.png"/><Relationship Id="rId8" Type="http://schemas.openxmlformats.org/officeDocument/2006/relationships/image" Target="../media/image80.png"/><Relationship Id="rId7" Type="http://schemas.openxmlformats.org/officeDocument/2006/relationships/image" Target="../media/image79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3" Type="http://schemas.openxmlformats.org/officeDocument/2006/relationships/notesSlide" Target="../notesSlides/notesSlide13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83.png"/><Relationship Id="rId10" Type="http://schemas.openxmlformats.org/officeDocument/2006/relationships/image" Target="../media/image82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jpeg"/><Relationship Id="rId8" Type="http://schemas.openxmlformats.org/officeDocument/2006/relationships/image" Target="../media/image19.png"/><Relationship Id="rId7" Type="http://schemas.openxmlformats.org/officeDocument/2006/relationships/image" Target="../media/image84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4" Type="http://schemas.openxmlformats.org/officeDocument/2006/relationships/notesSlide" Target="../notesSlides/notesSlide14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86.png"/><Relationship Id="rId11" Type="http://schemas.openxmlformats.org/officeDocument/2006/relationships/image" Target="../media/image85.png"/><Relationship Id="rId10" Type="http://schemas.openxmlformats.org/officeDocument/2006/relationships/image" Target="../media/image21.jpe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eatpaper-node:39:20" descr="slide-cov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3" name="featpaper-node:39:21" descr="Ellips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00" y="0"/>
            <a:ext cx="5080000" cy="5080000"/>
          </a:xfrm>
          <a:prstGeom prst="rect">
            <a:avLst/>
          </a:prstGeom>
        </p:spPr>
      </p:pic>
      <p:pic>
        <p:nvPicPr>
          <p:cNvPr id="4" name="featpaper-node:39:22" descr="Ellip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34000"/>
            <a:ext cx="3810000" cy="3810000"/>
          </a:xfrm>
          <a:prstGeom prst="rect">
            <a:avLst/>
          </a:prstGeom>
        </p:spPr>
      </p:pic>
      <p:pic>
        <p:nvPicPr>
          <p:cNvPr id="5" name="featpaper-node:39:25" descr="Brand Bad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1016000"/>
            <a:ext cx="2552700" cy="406400"/>
          </a:xfrm>
          <a:prstGeom prst="rect">
            <a:avLst/>
          </a:prstGeom>
        </p:spPr>
      </p:pic>
      <p:pic>
        <p:nvPicPr>
          <p:cNvPr id="6" name="featpaper-node:39:26" descr="Ellips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1168400"/>
            <a:ext cx="101600" cy="101600"/>
          </a:xfrm>
          <a:prstGeom prst="rect">
            <a:avLst/>
          </a:prstGeom>
        </p:spPr>
      </p:pic>
      <p:sp>
        <p:nvSpPr>
          <p:cNvPr id="7" name="featpaper-node:39:27"/>
          <p:cNvSpPr/>
          <p:nvPr/>
        </p:nvSpPr>
        <p:spPr>
          <a:xfrm>
            <a:off x="1473200" y="1111326"/>
            <a:ext cx="1938020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40"/>
              </a:lnSpc>
              <a:buNone/>
            </a:pPr>
            <a:r>
              <a:rPr lang="en-US" sz="1300" dirty="0">
                <a:solidFill>
                  <a:srgbClr val="00647F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MVP FINAL SHOWCASE</a:t>
            </a:r>
            <a:endParaRPr lang="en-US" sz="1300" dirty="0"/>
          </a:p>
        </p:txBody>
      </p:sp>
      <p:sp>
        <p:nvSpPr>
          <p:cNvPr id="8" name="featpaper-node:39:28"/>
          <p:cNvSpPr/>
          <p:nvPr/>
        </p:nvSpPr>
        <p:spPr>
          <a:xfrm>
            <a:off x="14084300" y="1110844"/>
            <a:ext cx="12014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lus Jakarta Sans Medium" pitchFamily="34" charset="0"/>
                <a:ea typeface="Plus Jakarta Sans Medium" pitchFamily="34" charset="-122"/>
                <a:cs typeface="Plus Jakarta Sans Medium" pitchFamily="34" charset="-120"/>
              </a:rPr>
              <a:t>Sept 19, 2026</a:t>
            </a:r>
            <a:endParaRPr lang="en-US" sz="1400" dirty="0"/>
          </a:p>
        </p:txBody>
      </p:sp>
      <p:pic>
        <p:nvPicPr>
          <p:cNvPr id="9" name="featpaper-node:39:31" descr="Fram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000" y="3721100"/>
            <a:ext cx="711200" cy="711200"/>
          </a:xfrm>
          <a:prstGeom prst="rect">
            <a:avLst/>
          </a:prstGeom>
        </p:spPr>
      </p:pic>
      <p:sp>
        <p:nvSpPr>
          <p:cNvPr id="10" name="featpaper-node:39:32"/>
          <p:cNvSpPr/>
          <p:nvPr/>
        </p:nvSpPr>
        <p:spPr>
          <a:xfrm>
            <a:off x="1930400" y="3624224"/>
            <a:ext cx="3995420" cy="901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7055"/>
              </a:lnSpc>
              <a:buNone/>
            </a:pPr>
            <a:r>
              <a:rPr lang="en-US" sz="5600" kern="0" spc="-150" dirty="0">
                <a:solidFill>
                  <a:srgbClr val="00647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HomeServe</a:t>
            </a:r>
            <a:endParaRPr lang="en-US" sz="5600" dirty="0"/>
          </a:p>
        </p:txBody>
      </p:sp>
      <p:sp>
        <p:nvSpPr>
          <p:cNvPr id="11" name="featpaper-node:39:34"/>
          <p:cNvSpPr/>
          <p:nvPr/>
        </p:nvSpPr>
        <p:spPr>
          <a:xfrm>
            <a:off x="1016000" y="4839411"/>
            <a:ext cx="9240520" cy="609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790"/>
              </a:lnSpc>
              <a:buNone/>
            </a:pPr>
            <a:r>
              <a:rPr lang="en-US" sz="3800" kern="0" spc="-8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Your Trusted Home Services Marketplace</a:t>
            </a:r>
            <a:endParaRPr lang="en-US" sz="3800" dirty="0"/>
          </a:p>
        </p:txBody>
      </p:sp>
      <p:sp>
        <p:nvSpPr>
          <p:cNvPr id="12" name="featpaper-node:39:38"/>
          <p:cNvSpPr/>
          <p:nvPr/>
        </p:nvSpPr>
        <p:spPr>
          <a:xfrm>
            <a:off x="1016000" y="7639609"/>
            <a:ext cx="1074420" cy="190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PREPARED BY</a:t>
            </a:r>
            <a:endParaRPr lang="en-US" sz="1200" dirty="0"/>
          </a:p>
        </p:txBody>
      </p:sp>
      <p:sp>
        <p:nvSpPr>
          <p:cNvPr id="13" name="featpaper-node:39:39"/>
          <p:cNvSpPr/>
          <p:nvPr/>
        </p:nvSpPr>
        <p:spPr>
          <a:xfrm>
            <a:off x="1016000" y="7892161"/>
            <a:ext cx="3398520" cy="2413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HomeServe MVP Development Team</a:t>
            </a:r>
            <a:endParaRPr lang="en-US" sz="1500" dirty="0"/>
          </a:p>
        </p:txBody>
      </p:sp>
      <p:pic>
        <p:nvPicPr>
          <p:cNvPr id="14" name="featpaper-node:39:41" descr="Rectangl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22400" y="7721600"/>
            <a:ext cx="406400" cy="203200"/>
          </a:xfrm>
          <a:prstGeom prst="rect">
            <a:avLst/>
          </a:prstGeom>
        </p:spPr>
      </p:pic>
      <p:pic>
        <p:nvPicPr>
          <p:cNvPr id="15" name="featpaper-node:39:42" descr="Rectang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630400" y="7721600"/>
            <a:ext cx="203200" cy="406400"/>
          </a:xfrm>
          <a:prstGeom prst="rect">
            <a:avLst/>
          </a:prstGeom>
        </p:spPr>
      </p:pic>
      <p:pic>
        <p:nvPicPr>
          <p:cNvPr id="16" name="featpaper-node:39:43" descr="Rectangl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935200" y="7721600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eatpaper-node:39:45" descr="slide-problem-soluti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3" name="featpaper-node:39:47" descr="Head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812800"/>
            <a:ext cx="14630400" cy="711200"/>
          </a:xfrm>
          <a:prstGeom prst="rect">
            <a:avLst/>
          </a:prstGeom>
        </p:spPr>
      </p:pic>
      <p:pic>
        <p:nvPicPr>
          <p:cNvPr id="4" name="featpaper-node:39:49" descr="App Icon Wrap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812800"/>
            <a:ext cx="406400" cy="406400"/>
          </a:xfrm>
          <a:prstGeom prst="rect">
            <a:avLst/>
          </a:prstGeom>
        </p:spPr>
      </p:pic>
      <p:pic>
        <p:nvPicPr>
          <p:cNvPr id="5" name="featpaper-node:39:296" descr="Vecto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100" y="918627"/>
            <a:ext cx="177800" cy="186271"/>
          </a:xfrm>
          <a:prstGeom prst="rect">
            <a:avLst/>
          </a:prstGeom>
        </p:spPr>
      </p:pic>
      <p:sp>
        <p:nvSpPr>
          <p:cNvPr id="6" name="featpaper-node:39:51"/>
          <p:cNvSpPr/>
          <p:nvPr/>
        </p:nvSpPr>
        <p:spPr>
          <a:xfrm>
            <a:off x="1371600" y="873963"/>
            <a:ext cx="1366520" cy="2921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70"/>
              </a:lnSpc>
              <a:buNone/>
            </a:pPr>
            <a:r>
              <a:rPr lang="en-US" sz="1800" dirty="0">
                <a:solidFill>
                  <a:srgbClr val="00647F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HomeServe</a:t>
            </a:r>
            <a:endParaRPr lang="en-US" sz="1800" dirty="0"/>
          </a:p>
        </p:txBody>
      </p:sp>
      <p:sp>
        <p:nvSpPr>
          <p:cNvPr id="7" name="featpaper-node:39:52"/>
          <p:cNvSpPr/>
          <p:nvPr/>
        </p:nvSpPr>
        <p:spPr>
          <a:xfrm>
            <a:off x="2844800" y="907644"/>
            <a:ext cx="1346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/</a:t>
            </a:r>
            <a:endParaRPr lang="en-US" sz="1400" dirty="0"/>
          </a:p>
        </p:txBody>
      </p:sp>
      <p:sp>
        <p:nvSpPr>
          <p:cNvPr id="8" name="featpaper-node:39:53"/>
          <p:cNvSpPr/>
          <p:nvPr/>
        </p:nvSpPr>
        <p:spPr>
          <a:xfrm>
            <a:off x="3086100" y="907644"/>
            <a:ext cx="9982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OVERVIEW</a:t>
            </a:r>
            <a:endParaRPr lang="en-US" sz="1400" dirty="0"/>
          </a:p>
        </p:txBody>
      </p:sp>
      <p:sp>
        <p:nvSpPr>
          <p:cNvPr id="9" name="featpaper-node:39:54"/>
          <p:cNvSpPr/>
          <p:nvPr/>
        </p:nvSpPr>
        <p:spPr>
          <a:xfrm>
            <a:off x="15201900" y="907644"/>
            <a:ext cx="2870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featpaper-node:39:56"/>
          <p:cNvSpPr/>
          <p:nvPr/>
        </p:nvSpPr>
        <p:spPr>
          <a:xfrm>
            <a:off x="812800" y="2029257"/>
            <a:ext cx="5544820" cy="508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030"/>
              </a:lnSpc>
              <a:buNone/>
            </a:pPr>
            <a:r>
              <a:rPr lang="en-US" sz="3200" kern="0" spc="-80" dirty="0">
                <a:solidFill>
                  <a:srgbClr val="0F172A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The Challenge &amp; Our Solution</a:t>
            </a:r>
            <a:endParaRPr lang="en-US" sz="3200" dirty="0"/>
          </a:p>
        </p:txBody>
      </p:sp>
      <p:sp>
        <p:nvSpPr>
          <p:cNvPr id="11" name="featpaper-node:39:57"/>
          <p:cNvSpPr/>
          <p:nvPr/>
        </p:nvSpPr>
        <p:spPr>
          <a:xfrm>
            <a:off x="812800" y="2646578"/>
            <a:ext cx="604012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15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Bridging the gap between homeowners and service specialists</a:t>
            </a:r>
            <a:endParaRPr lang="en-US" sz="1600" dirty="0"/>
          </a:p>
        </p:txBody>
      </p:sp>
      <p:pic>
        <p:nvPicPr>
          <p:cNvPr id="12" name="featpaper-node:39:59" descr="Problem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0" y="3403600"/>
            <a:ext cx="7112000" cy="4927600"/>
          </a:xfrm>
          <a:prstGeom prst="rect">
            <a:avLst/>
          </a:prstGeom>
        </p:spPr>
      </p:pic>
      <p:pic>
        <p:nvPicPr>
          <p:cNvPr id="13" name="featpaper-node:39:75" descr="Solution Car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1200" y="3403600"/>
            <a:ext cx="7112000" cy="4927600"/>
          </a:xfrm>
          <a:prstGeom prst="rect">
            <a:avLst/>
          </a:prstGeom>
        </p:spPr>
      </p:pic>
      <p:pic>
        <p:nvPicPr>
          <p:cNvPr id="14" name="featpaper-node:39:77" descr="Fram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7600" y="3810000"/>
            <a:ext cx="457200" cy="457200"/>
          </a:xfrm>
          <a:prstGeom prst="rect">
            <a:avLst/>
          </a:prstGeom>
        </p:spPr>
      </p:pic>
      <p:pic>
        <p:nvPicPr>
          <p:cNvPr id="15" name="featpaper-node:39:335" descr="Vecto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85771" y="3975100"/>
            <a:ext cx="160852" cy="123787"/>
          </a:xfrm>
          <a:prstGeom prst="rect">
            <a:avLst/>
          </a:prstGeom>
        </p:spPr>
      </p:pic>
      <p:sp>
        <p:nvSpPr>
          <p:cNvPr id="16" name="featpaper-node:39:79"/>
          <p:cNvSpPr/>
          <p:nvPr/>
        </p:nvSpPr>
        <p:spPr>
          <a:xfrm>
            <a:off x="9347200" y="3882898"/>
            <a:ext cx="1569720" cy="317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000" dirty="0">
                <a:solidFill>
                  <a:srgbClr val="00647F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The Solution</a:t>
            </a:r>
            <a:endParaRPr lang="en-US" sz="2000" dirty="0"/>
          </a:p>
        </p:txBody>
      </p:sp>
      <p:sp>
        <p:nvSpPr>
          <p:cNvPr id="17" name="featpaper-node:39:80"/>
          <p:cNvSpPr/>
          <p:nvPr/>
        </p:nvSpPr>
        <p:spPr>
          <a:xfrm>
            <a:off x="8737600" y="4577994"/>
            <a:ext cx="6344920" cy="609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Plus Jakarta Sans Medium" pitchFamily="34" charset="0"/>
                <a:ea typeface="Plus Jakarta Sans Medium" pitchFamily="34" charset="-122"/>
                <a:cs typeface="Plus Jakarta Sans Medium" pitchFamily="34" charset="-120"/>
              </a:rPr>
              <a:t>HomeServe connects homeowners with verified local service providers through a seamless, mobile-first marketplace.</a:t>
            </a:r>
            <a:endParaRPr lang="en-US" sz="1600" dirty="0"/>
          </a:p>
        </p:txBody>
      </p:sp>
      <p:pic>
        <p:nvPicPr>
          <p:cNvPr id="18" name="featpaper-node:39:338" descr="Vector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3006" y="5530850"/>
            <a:ext cx="177788" cy="135428"/>
          </a:xfrm>
          <a:prstGeom prst="rect">
            <a:avLst/>
          </a:prstGeom>
        </p:spPr>
      </p:pic>
      <p:sp>
        <p:nvSpPr>
          <p:cNvPr id="19" name="featpaper-node:39:85"/>
          <p:cNvSpPr/>
          <p:nvPr/>
        </p:nvSpPr>
        <p:spPr>
          <a:xfrm>
            <a:off x="9118600" y="5491861"/>
            <a:ext cx="2052320" cy="2413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00" dirty="0">
                <a:solidFill>
                  <a:srgbClr val="00647F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Verified Professionals</a:t>
            </a:r>
            <a:endParaRPr lang="en-US" sz="1500" dirty="0"/>
          </a:p>
        </p:txBody>
      </p:sp>
      <p:sp>
        <p:nvSpPr>
          <p:cNvPr id="20" name="featpaper-node:39:86"/>
          <p:cNvSpPr/>
          <p:nvPr/>
        </p:nvSpPr>
        <p:spPr>
          <a:xfrm>
            <a:off x="9118600" y="5759044"/>
            <a:ext cx="46304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Complete with portfolio showcases and rating metrics.</a:t>
            </a:r>
            <a:endParaRPr lang="en-US" sz="1400" dirty="0"/>
          </a:p>
        </p:txBody>
      </p:sp>
      <p:pic>
        <p:nvPicPr>
          <p:cNvPr id="21" name="featpaper-node:39:341" descr="Vector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3006" y="6229350"/>
            <a:ext cx="177788" cy="135428"/>
          </a:xfrm>
          <a:prstGeom prst="rect">
            <a:avLst/>
          </a:prstGeom>
        </p:spPr>
      </p:pic>
      <p:sp>
        <p:nvSpPr>
          <p:cNvPr id="22" name="featpaper-node:39:90"/>
          <p:cNvSpPr/>
          <p:nvPr/>
        </p:nvSpPr>
        <p:spPr>
          <a:xfrm>
            <a:off x="9118600" y="6190361"/>
            <a:ext cx="1836420" cy="2413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00" dirty="0">
                <a:solidFill>
                  <a:srgbClr val="00647F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Transparent Pricing</a:t>
            </a:r>
            <a:endParaRPr lang="en-US" sz="1500" dirty="0"/>
          </a:p>
        </p:txBody>
      </p:sp>
      <p:sp>
        <p:nvSpPr>
          <p:cNvPr id="23" name="featpaper-node:39:91"/>
          <p:cNvSpPr/>
          <p:nvPr/>
        </p:nvSpPr>
        <p:spPr>
          <a:xfrm>
            <a:off x="9118600" y="6457543"/>
            <a:ext cx="48590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Clear upfront baseline charges &amp; instant digital estimates.</a:t>
            </a:r>
            <a:endParaRPr lang="en-US" sz="1400" dirty="0"/>
          </a:p>
        </p:txBody>
      </p:sp>
      <p:pic>
        <p:nvPicPr>
          <p:cNvPr id="24" name="featpaper-node:39:344" descr="Vector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3006" y="6927850"/>
            <a:ext cx="177788" cy="135428"/>
          </a:xfrm>
          <a:prstGeom prst="rect">
            <a:avLst/>
          </a:prstGeom>
        </p:spPr>
      </p:pic>
      <p:sp>
        <p:nvSpPr>
          <p:cNvPr id="25" name="featpaper-node:39:95"/>
          <p:cNvSpPr/>
          <p:nvPr/>
        </p:nvSpPr>
        <p:spPr>
          <a:xfrm>
            <a:off x="9118600" y="6888861"/>
            <a:ext cx="1785620" cy="2413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00" dirty="0">
                <a:solidFill>
                  <a:srgbClr val="00647F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Real-time Booking</a:t>
            </a:r>
            <a:endParaRPr lang="en-US" sz="1500" dirty="0"/>
          </a:p>
        </p:txBody>
      </p:sp>
      <p:sp>
        <p:nvSpPr>
          <p:cNvPr id="26" name="featpaper-node:39:96"/>
          <p:cNvSpPr/>
          <p:nvPr/>
        </p:nvSpPr>
        <p:spPr>
          <a:xfrm>
            <a:off x="9118600" y="7156043"/>
            <a:ext cx="55956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Instant scheduler tracking, availability indicators, &amp; status updates.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eatpaper-node:39:98" descr="slide-team-sprin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3" name="featpaper-node:39:100" descr="Head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812800"/>
            <a:ext cx="14630400" cy="711200"/>
          </a:xfrm>
          <a:prstGeom prst="rect">
            <a:avLst/>
          </a:prstGeom>
        </p:spPr>
      </p:pic>
      <p:pic>
        <p:nvPicPr>
          <p:cNvPr id="4" name="featpaper-node:39:102" descr="App Icon Wrap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812800"/>
            <a:ext cx="406400" cy="406400"/>
          </a:xfrm>
          <a:prstGeom prst="rect">
            <a:avLst/>
          </a:prstGeom>
        </p:spPr>
      </p:pic>
      <p:pic>
        <p:nvPicPr>
          <p:cNvPr id="5" name="featpaper-node:39:299" descr="Vecto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100" y="918627"/>
            <a:ext cx="177800" cy="186271"/>
          </a:xfrm>
          <a:prstGeom prst="rect">
            <a:avLst/>
          </a:prstGeom>
        </p:spPr>
      </p:pic>
      <p:sp>
        <p:nvSpPr>
          <p:cNvPr id="6" name="featpaper-node:39:104"/>
          <p:cNvSpPr/>
          <p:nvPr/>
        </p:nvSpPr>
        <p:spPr>
          <a:xfrm>
            <a:off x="1371600" y="873963"/>
            <a:ext cx="1366520" cy="2921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70"/>
              </a:lnSpc>
              <a:buNone/>
            </a:pPr>
            <a:r>
              <a:rPr lang="en-US" sz="1800" dirty="0">
                <a:solidFill>
                  <a:srgbClr val="00647F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HomeServe</a:t>
            </a:r>
            <a:endParaRPr lang="en-US" sz="1800" dirty="0"/>
          </a:p>
        </p:txBody>
      </p:sp>
      <p:sp>
        <p:nvSpPr>
          <p:cNvPr id="7" name="featpaper-node:39:105"/>
          <p:cNvSpPr/>
          <p:nvPr/>
        </p:nvSpPr>
        <p:spPr>
          <a:xfrm>
            <a:off x="2844800" y="907644"/>
            <a:ext cx="1346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/</a:t>
            </a:r>
            <a:endParaRPr lang="en-US" sz="1400" dirty="0"/>
          </a:p>
        </p:txBody>
      </p:sp>
      <p:sp>
        <p:nvSpPr>
          <p:cNvPr id="8" name="featpaper-node:39:106"/>
          <p:cNvSpPr/>
          <p:nvPr/>
        </p:nvSpPr>
        <p:spPr>
          <a:xfrm>
            <a:off x="3086100" y="907644"/>
            <a:ext cx="10744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EXECUTION</a:t>
            </a:r>
            <a:endParaRPr lang="en-US" sz="1400" dirty="0"/>
          </a:p>
        </p:txBody>
      </p:sp>
      <p:sp>
        <p:nvSpPr>
          <p:cNvPr id="9" name="featpaper-node:39:107"/>
          <p:cNvSpPr/>
          <p:nvPr/>
        </p:nvSpPr>
        <p:spPr>
          <a:xfrm>
            <a:off x="15201900" y="907644"/>
            <a:ext cx="2870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0" name="featpaper-node:39:109"/>
          <p:cNvSpPr/>
          <p:nvPr/>
        </p:nvSpPr>
        <p:spPr>
          <a:xfrm>
            <a:off x="812800" y="1927657"/>
            <a:ext cx="5621020" cy="508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030"/>
              </a:lnSpc>
              <a:buNone/>
            </a:pPr>
            <a:r>
              <a:rPr lang="en-US" sz="3200" kern="0" spc="-80" dirty="0">
                <a:solidFill>
                  <a:srgbClr val="0F172A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The Team &amp; 5-Day Sprint Plan</a:t>
            </a:r>
            <a:endParaRPr lang="en-US" sz="3200" dirty="0"/>
          </a:p>
        </p:txBody>
      </p:sp>
      <p:sp>
        <p:nvSpPr>
          <p:cNvPr id="11" name="featpaper-node:39:110"/>
          <p:cNvSpPr/>
          <p:nvPr/>
        </p:nvSpPr>
        <p:spPr>
          <a:xfrm>
            <a:off x="812800" y="2544978"/>
            <a:ext cx="543052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15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High-velocity MVP execution from zero to full integration</a:t>
            </a:r>
            <a:endParaRPr lang="en-US" sz="1600" dirty="0"/>
          </a:p>
        </p:txBody>
      </p:sp>
      <p:pic>
        <p:nvPicPr>
          <p:cNvPr id="12" name="featpaper-node:39:112" descr="Memb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0" y="3200400"/>
            <a:ext cx="4673600" cy="1346200"/>
          </a:xfrm>
          <a:prstGeom prst="rect">
            <a:avLst/>
          </a:prstGeom>
        </p:spPr>
      </p:pic>
      <p:pic>
        <p:nvPicPr>
          <p:cNvPr id="13" name="featpaper-node:39:113" descr="C:/Users/01sai/Downloads/saidul.pngsaidul"/>
          <p:cNvPicPr>
            <a:picLocks noChangeAspect="1"/>
          </p:cNvPicPr>
          <p:nvPr/>
        </p:nvPicPr>
        <p:blipFill>
          <a:blip r:embed="rId6"/>
          <a:srcRect t="375" b="375"/>
          <a:stretch>
            <a:fillRect/>
          </a:stretch>
        </p:blipFill>
        <p:spPr>
          <a:xfrm>
            <a:off x="1016000" y="3492500"/>
            <a:ext cx="762000" cy="762000"/>
          </a:xfrm>
          <a:prstGeom prst="rect">
            <a:avLst/>
          </a:prstGeom>
        </p:spPr>
      </p:pic>
      <p:sp>
        <p:nvSpPr>
          <p:cNvPr id="14" name="featpaper-node:39:115"/>
          <p:cNvSpPr/>
          <p:nvPr/>
        </p:nvSpPr>
        <p:spPr>
          <a:xfrm>
            <a:off x="1981200" y="3408578"/>
            <a:ext cx="121412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15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Saidul Islam</a:t>
            </a:r>
            <a:endParaRPr lang="en-US" sz="1600" dirty="0"/>
          </a:p>
        </p:txBody>
      </p:sp>
      <p:sp>
        <p:nvSpPr>
          <p:cNvPr id="15" name="featpaper-node:39:116"/>
          <p:cNvSpPr/>
          <p:nvPr/>
        </p:nvSpPr>
        <p:spPr>
          <a:xfrm>
            <a:off x="1981200" y="3702126"/>
            <a:ext cx="2636520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40"/>
              </a:lnSpc>
              <a:buNone/>
            </a:pPr>
            <a:r>
              <a:rPr lang="en-US" sz="1300" dirty="0">
                <a:solidFill>
                  <a:srgbClr val="1B8FB3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Project Lead &amp; Flutter Developer</a:t>
            </a:r>
            <a:endParaRPr lang="en-US" sz="1300" dirty="0"/>
          </a:p>
        </p:txBody>
      </p:sp>
      <p:sp>
        <p:nvSpPr>
          <p:cNvPr id="16" name="featpaper-node:39:117"/>
          <p:cNvSpPr/>
          <p:nvPr/>
        </p:nvSpPr>
        <p:spPr>
          <a:xfrm>
            <a:off x="1981200" y="3956609"/>
            <a:ext cx="3347720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Built cross-platform Flutter client &amp; E2E state synchronization.</a:t>
            </a:r>
            <a:endParaRPr lang="en-US" sz="1200" dirty="0"/>
          </a:p>
        </p:txBody>
      </p:sp>
      <p:pic>
        <p:nvPicPr>
          <p:cNvPr id="17" name="featpaper-node:39:118" descr="Memb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1200" y="3200400"/>
            <a:ext cx="4673600" cy="1346200"/>
          </a:xfrm>
          <a:prstGeom prst="rect">
            <a:avLst/>
          </a:prstGeom>
        </p:spPr>
      </p:pic>
      <p:pic>
        <p:nvPicPr>
          <p:cNvPr id="18" name="featpaper-node:39:119" descr="C:/Users/01sai/Downloads/WhatsApp Image 2026-09-22 at 9.12.44 PM.jpegWhatsApp Image 2026-09-22 at 9.12.44 PM"/>
          <p:cNvPicPr>
            <a:picLocks noChangeAspect="1"/>
          </p:cNvPicPr>
          <p:nvPr/>
        </p:nvPicPr>
        <p:blipFill>
          <a:blip r:embed="rId7"/>
          <a:srcRect t="208" b="208"/>
          <a:stretch>
            <a:fillRect/>
          </a:stretch>
        </p:blipFill>
        <p:spPr>
          <a:xfrm>
            <a:off x="5994400" y="3492500"/>
            <a:ext cx="762000" cy="762000"/>
          </a:xfrm>
          <a:prstGeom prst="rect">
            <a:avLst/>
          </a:prstGeom>
        </p:spPr>
      </p:pic>
      <p:sp>
        <p:nvSpPr>
          <p:cNvPr id="19" name="featpaper-node:39:121"/>
          <p:cNvSpPr/>
          <p:nvPr/>
        </p:nvSpPr>
        <p:spPr>
          <a:xfrm>
            <a:off x="6959600" y="3408578"/>
            <a:ext cx="62992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15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Rabbi</a:t>
            </a:r>
            <a:endParaRPr lang="en-US" sz="1600" dirty="0"/>
          </a:p>
        </p:txBody>
      </p:sp>
      <p:sp>
        <p:nvSpPr>
          <p:cNvPr id="20" name="featpaper-node:39:122"/>
          <p:cNvSpPr/>
          <p:nvPr/>
        </p:nvSpPr>
        <p:spPr>
          <a:xfrm>
            <a:off x="6959600" y="3702126"/>
            <a:ext cx="1620520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40"/>
              </a:lnSpc>
              <a:buNone/>
            </a:pPr>
            <a:r>
              <a:rPr lang="en-US" sz="1300" dirty="0">
                <a:solidFill>
                  <a:srgbClr val="1B8FB3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Backend Developer</a:t>
            </a:r>
            <a:endParaRPr lang="en-US" sz="1300" dirty="0"/>
          </a:p>
        </p:txBody>
      </p:sp>
      <p:sp>
        <p:nvSpPr>
          <p:cNvPr id="21" name="featpaper-node:39:123"/>
          <p:cNvSpPr/>
          <p:nvPr/>
        </p:nvSpPr>
        <p:spPr>
          <a:xfrm>
            <a:off x="6959600" y="3956609"/>
            <a:ext cx="3347720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Implemented FastAPI server, MySQL models, &amp; OTP authorization endpoints.</a:t>
            </a:r>
            <a:endParaRPr lang="en-US" sz="1200" dirty="0"/>
          </a:p>
        </p:txBody>
      </p:sp>
      <p:pic>
        <p:nvPicPr>
          <p:cNvPr id="22" name="featpaper-node:39:124" descr="Memb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9600" y="3200400"/>
            <a:ext cx="4673600" cy="1346200"/>
          </a:xfrm>
          <a:prstGeom prst="rect">
            <a:avLst/>
          </a:prstGeom>
        </p:spPr>
      </p:pic>
      <p:pic>
        <p:nvPicPr>
          <p:cNvPr id="23" name="featpaper-node:39:125" descr="C:/Users/01sai/Downloads/my_pic.jpg.jpegmy_pic.jpg"/>
          <p:cNvPicPr>
            <a:picLocks noChangeAspect="1"/>
          </p:cNvPicPr>
          <p:nvPr/>
        </p:nvPicPr>
        <p:blipFill>
          <a:blip r:embed="rId8"/>
          <a:srcRect l="12542" r="12542"/>
          <a:stretch>
            <a:fillRect/>
          </a:stretch>
        </p:blipFill>
        <p:spPr>
          <a:xfrm>
            <a:off x="10972800" y="3492500"/>
            <a:ext cx="762000" cy="762000"/>
          </a:xfrm>
          <a:prstGeom prst="rect">
            <a:avLst/>
          </a:prstGeom>
        </p:spPr>
      </p:pic>
      <p:sp>
        <p:nvSpPr>
          <p:cNvPr id="24" name="featpaper-node:39:127"/>
          <p:cNvSpPr/>
          <p:nvPr/>
        </p:nvSpPr>
        <p:spPr>
          <a:xfrm>
            <a:off x="11938000" y="3408578"/>
            <a:ext cx="54102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15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Sajib</a:t>
            </a:r>
            <a:endParaRPr lang="en-US" sz="1600" dirty="0"/>
          </a:p>
        </p:txBody>
      </p:sp>
      <p:sp>
        <p:nvSpPr>
          <p:cNvPr id="25" name="featpaper-node:39:128"/>
          <p:cNvSpPr/>
          <p:nvPr/>
        </p:nvSpPr>
        <p:spPr>
          <a:xfrm>
            <a:off x="11938000" y="3702126"/>
            <a:ext cx="1798320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40"/>
              </a:lnSpc>
              <a:buNone/>
            </a:pPr>
            <a:r>
              <a:rPr lang="en-US" sz="1300" dirty="0">
                <a:solidFill>
                  <a:srgbClr val="1B8FB3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Architecture Designer</a:t>
            </a:r>
            <a:endParaRPr lang="en-US" sz="1300" dirty="0"/>
          </a:p>
        </p:txBody>
      </p:sp>
      <p:sp>
        <p:nvSpPr>
          <p:cNvPr id="26" name="featpaper-node:39:129"/>
          <p:cNvSpPr/>
          <p:nvPr/>
        </p:nvSpPr>
        <p:spPr>
          <a:xfrm>
            <a:off x="11938000" y="3956609"/>
            <a:ext cx="3347720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Crafted relational DB schemas, Figma layouts, &amp; visual UX/UI state paths.</a:t>
            </a:r>
            <a:endParaRPr lang="en-US" sz="1200" dirty="0"/>
          </a:p>
        </p:txBody>
      </p:sp>
      <p:pic>
        <p:nvPicPr>
          <p:cNvPr id="27" name="featpaper-node:39:130" descr="Timeline Block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2800" y="4953000"/>
            <a:ext cx="14630400" cy="1689100"/>
          </a:xfrm>
          <a:prstGeom prst="rect">
            <a:avLst/>
          </a:prstGeom>
        </p:spPr>
      </p:pic>
      <p:sp>
        <p:nvSpPr>
          <p:cNvPr id="28" name="featpaper-node:39:132"/>
          <p:cNvSpPr/>
          <p:nvPr/>
        </p:nvSpPr>
        <p:spPr>
          <a:xfrm>
            <a:off x="1117600" y="5263261"/>
            <a:ext cx="2725420" cy="2413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00" dirty="0">
                <a:solidFill>
                  <a:srgbClr val="00647F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5-DAY MVP SPRINT TIMELINE</a:t>
            </a:r>
            <a:endParaRPr lang="en-US" sz="1500" dirty="0"/>
          </a:p>
        </p:txBody>
      </p:sp>
      <p:sp>
        <p:nvSpPr>
          <p:cNvPr id="29" name="featpaper-node:39:133"/>
          <p:cNvSpPr/>
          <p:nvPr/>
        </p:nvSpPr>
        <p:spPr>
          <a:xfrm>
            <a:off x="13322300" y="5270576"/>
            <a:ext cx="1861820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4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Sept 15 – Sept 19, 2026</a:t>
            </a:r>
            <a:endParaRPr lang="en-US" sz="1300" dirty="0"/>
          </a:p>
        </p:txBody>
      </p:sp>
      <p:sp>
        <p:nvSpPr>
          <p:cNvPr id="30" name="featpaper-node:39:137"/>
          <p:cNvSpPr/>
          <p:nvPr/>
        </p:nvSpPr>
        <p:spPr>
          <a:xfrm>
            <a:off x="1117600" y="5696991"/>
            <a:ext cx="414020" cy="177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85"/>
              </a:lnSpc>
              <a:buNone/>
            </a:pPr>
            <a:r>
              <a:rPr lang="en-US" sz="1100" dirty="0">
                <a:solidFill>
                  <a:srgbClr val="1B8FB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DAY 1</a:t>
            </a:r>
            <a:endParaRPr lang="en-US" sz="1100" dirty="0"/>
          </a:p>
        </p:txBody>
      </p:sp>
      <p:sp>
        <p:nvSpPr>
          <p:cNvPr id="31" name="featpaper-node:39:138"/>
          <p:cNvSpPr/>
          <p:nvPr/>
        </p:nvSpPr>
        <p:spPr>
          <a:xfrm>
            <a:off x="1117600" y="5911444"/>
            <a:ext cx="10363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32" name="featpaper-node:39:139"/>
          <p:cNvSpPr/>
          <p:nvPr/>
        </p:nvSpPr>
        <p:spPr>
          <a:xfrm>
            <a:off x="1117600" y="6154191"/>
            <a:ext cx="2423160" cy="177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85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DB Schema &amp; Setup</a:t>
            </a:r>
            <a:endParaRPr lang="en-US" sz="1100" dirty="0"/>
          </a:p>
        </p:txBody>
      </p:sp>
      <p:pic>
        <p:nvPicPr>
          <p:cNvPr id="33" name="featpaper-node:39:302" descr="Vector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41086" y="5962645"/>
            <a:ext cx="119571" cy="114310"/>
          </a:xfrm>
          <a:prstGeom prst="rect">
            <a:avLst/>
          </a:prstGeom>
        </p:spPr>
      </p:pic>
      <p:sp>
        <p:nvSpPr>
          <p:cNvPr id="34" name="featpaper-node:39:144"/>
          <p:cNvSpPr/>
          <p:nvPr/>
        </p:nvSpPr>
        <p:spPr>
          <a:xfrm>
            <a:off x="3952242" y="5696991"/>
            <a:ext cx="452120" cy="177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85"/>
              </a:lnSpc>
              <a:buNone/>
            </a:pPr>
            <a:r>
              <a:rPr lang="en-US" sz="1100" dirty="0">
                <a:solidFill>
                  <a:srgbClr val="1B8FB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DAY 2</a:t>
            </a:r>
            <a:endParaRPr lang="en-US" sz="1100" dirty="0"/>
          </a:p>
        </p:txBody>
      </p:sp>
      <p:sp>
        <p:nvSpPr>
          <p:cNvPr id="35" name="featpaper-node:39:145"/>
          <p:cNvSpPr/>
          <p:nvPr/>
        </p:nvSpPr>
        <p:spPr>
          <a:xfrm>
            <a:off x="3952242" y="5911444"/>
            <a:ext cx="8077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Auth E2E</a:t>
            </a:r>
            <a:endParaRPr lang="en-US" sz="1400" dirty="0"/>
          </a:p>
        </p:txBody>
      </p:sp>
      <p:sp>
        <p:nvSpPr>
          <p:cNvPr id="36" name="featpaper-node:39:146"/>
          <p:cNvSpPr/>
          <p:nvPr/>
        </p:nvSpPr>
        <p:spPr>
          <a:xfrm>
            <a:off x="3952242" y="6154191"/>
            <a:ext cx="2423160" cy="177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85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Phone OTP Mock</a:t>
            </a:r>
            <a:endParaRPr lang="en-US" sz="1100" dirty="0"/>
          </a:p>
        </p:txBody>
      </p:sp>
      <p:pic>
        <p:nvPicPr>
          <p:cNvPr id="37" name="featpaper-node:39:305" descr="Vector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5729" y="5962645"/>
            <a:ext cx="119571" cy="114310"/>
          </a:xfrm>
          <a:prstGeom prst="rect">
            <a:avLst/>
          </a:prstGeom>
        </p:spPr>
      </p:pic>
      <p:sp>
        <p:nvSpPr>
          <p:cNvPr id="38" name="featpaper-node:39:151"/>
          <p:cNvSpPr/>
          <p:nvPr/>
        </p:nvSpPr>
        <p:spPr>
          <a:xfrm>
            <a:off x="6786879" y="5696991"/>
            <a:ext cx="452120" cy="177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85"/>
              </a:lnSpc>
              <a:buNone/>
            </a:pPr>
            <a:r>
              <a:rPr lang="en-US" sz="1100" dirty="0">
                <a:solidFill>
                  <a:srgbClr val="1B8FB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DAY 3</a:t>
            </a:r>
            <a:endParaRPr lang="en-US" sz="1100" dirty="0"/>
          </a:p>
        </p:txBody>
      </p:sp>
      <p:sp>
        <p:nvSpPr>
          <p:cNvPr id="39" name="featpaper-node:39:152"/>
          <p:cNvSpPr/>
          <p:nvPr/>
        </p:nvSpPr>
        <p:spPr>
          <a:xfrm>
            <a:off x="6786879" y="5911444"/>
            <a:ext cx="12395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Core Booking</a:t>
            </a:r>
            <a:endParaRPr lang="en-US" sz="1400" dirty="0"/>
          </a:p>
        </p:txBody>
      </p:sp>
      <p:sp>
        <p:nvSpPr>
          <p:cNvPr id="40" name="featpaper-node:39:153"/>
          <p:cNvSpPr/>
          <p:nvPr/>
        </p:nvSpPr>
        <p:spPr>
          <a:xfrm>
            <a:off x="6786879" y="6154191"/>
            <a:ext cx="2423160" cy="177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85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List &amp; Flow Setup</a:t>
            </a:r>
            <a:endParaRPr lang="en-US" sz="1100" dirty="0"/>
          </a:p>
        </p:txBody>
      </p:sp>
      <p:pic>
        <p:nvPicPr>
          <p:cNvPr id="41" name="featpaper-node:39:308" descr="Vector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10365" y="5962645"/>
            <a:ext cx="119571" cy="114310"/>
          </a:xfrm>
          <a:prstGeom prst="rect">
            <a:avLst/>
          </a:prstGeom>
        </p:spPr>
      </p:pic>
      <p:sp>
        <p:nvSpPr>
          <p:cNvPr id="42" name="featpaper-node:39:158"/>
          <p:cNvSpPr/>
          <p:nvPr/>
        </p:nvSpPr>
        <p:spPr>
          <a:xfrm>
            <a:off x="9621521" y="5696991"/>
            <a:ext cx="452120" cy="177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85"/>
              </a:lnSpc>
              <a:buNone/>
            </a:pPr>
            <a:r>
              <a:rPr lang="en-US" sz="1100" dirty="0">
                <a:solidFill>
                  <a:srgbClr val="1B8FB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DAY 4</a:t>
            </a:r>
            <a:endParaRPr lang="en-US" sz="1100" dirty="0"/>
          </a:p>
        </p:txBody>
      </p:sp>
      <p:sp>
        <p:nvSpPr>
          <p:cNvPr id="43" name="featpaper-node:39:159"/>
          <p:cNvSpPr/>
          <p:nvPr/>
        </p:nvSpPr>
        <p:spPr>
          <a:xfrm>
            <a:off x="9621521" y="5911444"/>
            <a:ext cx="7696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Reviews</a:t>
            </a:r>
            <a:endParaRPr lang="en-US" sz="1400" dirty="0"/>
          </a:p>
        </p:txBody>
      </p:sp>
      <p:sp>
        <p:nvSpPr>
          <p:cNvPr id="44" name="featpaper-node:39:160"/>
          <p:cNvSpPr/>
          <p:nvPr/>
        </p:nvSpPr>
        <p:spPr>
          <a:xfrm>
            <a:off x="9621521" y="6154191"/>
            <a:ext cx="2423160" cy="177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85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Approval &amp; Ratings</a:t>
            </a:r>
            <a:endParaRPr lang="en-US" sz="1100" dirty="0"/>
          </a:p>
        </p:txBody>
      </p:sp>
      <p:pic>
        <p:nvPicPr>
          <p:cNvPr id="45" name="featpaper-node:39:311" descr="Vector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145008" y="5962645"/>
            <a:ext cx="119571" cy="114310"/>
          </a:xfrm>
          <a:prstGeom prst="rect">
            <a:avLst/>
          </a:prstGeom>
        </p:spPr>
      </p:pic>
      <p:sp>
        <p:nvSpPr>
          <p:cNvPr id="46" name="featpaper-node:39:165"/>
          <p:cNvSpPr/>
          <p:nvPr/>
        </p:nvSpPr>
        <p:spPr>
          <a:xfrm>
            <a:off x="12456158" y="5696991"/>
            <a:ext cx="452120" cy="177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85"/>
              </a:lnSpc>
              <a:buNone/>
            </a:pPr>
            <a:r>
              <a:rPr lang="en-US" sz="1100" dirty="0">
                <a:solidFill>
                  <a:srgbClr val="1B8FB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DAY 5</a:t>
            </a:r>
            <a:endParaRPr lang="en-US" sz="1100" dirty="0"/>
          </a:p>
        </p:txBody>
      </p:sp>
      <p:sp>
        <p:nvSpPr>
          <p:cNvPr id="47" name="featpaper-node:39:166"/>
          <p:cNvSpPr/>
          <p:nvPr/>
        </p:nvSpPr>
        <p:spPr>
          <a:xfrm>
            <a:off x="12456158" y="5911444"/>
            <a:ext cx="10109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Integration</a:t>
            </a:r>
            <a:endParaRPr lang="en-US" sz="1400" dirty="0"/>
          </a:p>
        </p:txBody>
      </p:sp>
      <p:sp>
        <p:nvSpPr>
          <p:cNvPr id="48" name="featpaper-node:39:167"/>
          <p:cNvSpPr/>
          <p:nvPr/>
        </p:nvSpPr>
        <p:spPr>
          <a:xfrm>
            <a:off x="12456158" y="6154191"/>
            <a:ext cx="2727960" cy="177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85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Final Test &amp; Release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eatpaper-node:39:169" descr="slide-mvp-scop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3" name="featpaper-node:39:171" descr="Head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812800"/>
            <a:ext cx="14630400" cy="711200"/>
          </a:xfrm>
          <a:prstGeom prst="rect">
            <a:avLst/>
          </a:prstGeom>
        </p:spPr>
      </p:pic>
      <p:pic>
        <p:nvPicPr>
          <p:cNvPr id="4" name="featpaper-node:39:173" descr="App Icon Wrap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812800"/>
            <a:ext cx="406400" cy="406400"/>
          </a:xfrm>
          <a:prstGeom prst="rect">
            <a:avLst/>
          </a:prstGeom>
        </p:spPr>
      </p:pic>
      <p:pic>
        <p:nvPicPr>
          <p:cNvPr id="5" name="featpaper-node:39:314" descr="Vecto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100" y="918627"/>
            <a:ext cx="177800" cy="186271"/>
          </a:xfrm>
          <a:prstGeom prst="rect">
            <a:avLst/>
          </a:prstGeom>
        </p:spPr>
      </p:pic>
      <p:sp>
        <p:nvSpPr>
          <p:cNvPr id="6" name="featpaper-node:39:175"/>
          <p:cNvSpPr/>
          <p:nvPr/>
        </p:nvSpPr>
        <p:spPr>
          <a:xfrm>
            <a:off x="1371600" y="873963"/>
            <a:ext cx="1366520" cy="2921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70"/>
              </a:lnSpc>
              <a:buNone/>
            </a:pPr>
            <a:r>
              <a:rPr lang="en-US" sz="1800" dirty="0">
                <a:solidFill>
                  <a:srgbClr val="00647F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HomeServe</a:t>
            </a:r>
            <a:endParaRPr lang="en-US" sz="1800" dirty="0"/>
          </a:p>
        </p:txBody>
      </p:sp>
      <p:sp>
        <p:nvSpPr>
          <p:cNvPr id="7" name="featpaper-node:39:176"/>
          <p:cNvSpPr/>
          <p:nvPr/>
        </p:nvSpPr>
        <p:spPr>
          <a:xfrm>
            <a:off x="2844800" y="907644"/>
            <a:ext cx="1346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/</a:t>
            </a:r>
            <a:endParaRPr lang="en-US" sz="1400" dirty="0"/>
          </a:p>
        </p:txBody>
      </p:sp>
      <p:sp>
        <p:nvSpPr>
          <p:cNvPr id="8" name="featpaper-node:39:177"/>
          <p:cNvSpPr/>
          <p:nvPr/>
        </p:nvSpPr>
        <p:spPr>
          <a:xfrm>
            <a:off x="3086100" y="907644"/>
            <a:ext cx="16840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STRATEGIC SCOPE</a:t>
            </a:r>
            <a:endParaRPr lang="en-US" sz="1400" dirty="0"/>
          </a:p>
        </p:txBody>
      </p:sp>
      <p:sp>
        <p:nvSpPr>
          <p:cNvPr id="9" name="featpaper-node:39:178"/>
          <p:cNvSpPr/>
          <p:nvPr/>
        </p:nvSpPr>
        <p:spPr>
          <a:xfrm>
            <a:off x="15189200" y="907644"/>
            <a:ext cx="2997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04</a:t>
            </a:r>
            <a:endParaRPr lang="en-US" sz="1400" dirty="0"/>
          </a:p>
        </p:txBody>
      </p:sp>
      <p:sp>
        <p:nvSpPr>
          <p:cNvPr id="10" name="featpaper-node:39:180"/>
          <p:cNvSpPr/>
          <p:nvPr/>
        </p:nvSpPr>
        <p:spPr>
          <a:xfrm>
            <a:off x="812800" y="1927657"/>
            <a:ext cx="3881120" cy="508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030"/>
              </a:lnSpc>
              <a:buNone/>
            </a:pPr>
            <a:r>
              <a:rPr lang="en-US" sz="3200" kern="0" spc="-80" dirty="0">
                <a:solidFill>
                  <a:srgbClr val="0F172A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Product MVP Scope</a:t>
            </a:r>
            <a:endParaRPr lang="en-US" sz="3200" dirty="0"/>
          </a:p>
        </p:txBody>
      </p:sp>
      <p:sp>
        <p:nvSpPr>
          <p:cNvPr id="11" name="featpaper-node:39:181"/>
          <p:cNvSpPr/>
          <p:nvPr/>
        </p:nvSpPr>
        <p:spPr>
          <a:xfrm>
            <a:off x="812800" y="2544978"/>
            <a:ext cx="617982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15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Rigorous feature prioritizing during our fast-paced design phase</a:t>
            </a:r>
            <a:endParaRPr lang="en-US" sz="1600" dirty="0"/>
          </a:p>
        </p:txBody>
      </p:sp>
      <p:pic>
        <p:nvPicPr>
          <p:cNvPr id="12" name="featpaper-node:39:183" descr="In Scope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0" y="3200400"/>
            <a:ext cx="7162800" cy="5130800"/>
          </a:xfrm>
          <a:prstGeom prst="rect">
            <a:avLst/>
          </a:prstGeom>
        </p:spPr>
      </p:pic>
      <p:sp>
        <p:nvSpPr>
          <p:cNvPr id="13" name="featpaper-node:39:185"/>
          <p:cNvSpPr/>
          <p:nvPr/>
        </p:nvSpPr>
        <p:spPr>
          <a:xfrm>
            <a:off x="1168400" y="3560013"/>
            <a:ext cx="3347720" cy="2921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70"/>
              </a:lnSpc>
              <a:buNone/>
            </a:pPr>
            <a:r>
              <a:rPr lang="en-US" sz="1800" dirty="0">
                <a:solidFill>
                  <a:srgbClr val="047857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Release 1 — In Scope (Sprint 1)</a:t>
            </a:r>
            <a:endParaRPr lang="en-US" sz="1800" dirty="0"/>
          </a:p>
        </p:txBody>
      </p:sp>
      <p:pic>
        <p:nvPicPr>
          <p:cNvPr id="14" name="featpaper-node:39:186" descr="Fram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7800" y="3556000"/>
            <a:ext cx="1092200" cy="292100"/>
          </a:xfrm>
          <a:prstGeom prst="rect">
            <a:avLst/>
          </a:prstGeom>
        </p:spPr>
      </p:pic>
      <p:sp>
        <p:nvSpPr>
          <p:cNvPr id="15" name="featpaper-node:39:187"/>
          <p:cNvSpPr/>
          <p:nvPr/>
        </p:nvSpPr>
        <p:spPr>
          <a:xfrm>
            <a:off x="6654800" y="3601009"/>
            <a:ext cx="883920" cy="190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1200" dirty="0">
                <a:solidFill>
                  <a:srgbClr val="047857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DELIVERED</a:t>
            </a:r>
            <a:endParaRPr lang="en-US" sz="1200" dirty="0"/>
          </a:p>
        </p:txBody>
      </p:sp>
      <p:pic>
        <p:nvPicPr>
          <p:cNvPr id="16" name="featpaper-node:39:190" descr="Fram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8400" y="4102100"/>
            <a:ext cx="304800" cy="304800"/>
          </a:xfrm>
          <a:prstGeom prst="rect">
            <a:avLst/>
          </a:prstGeom>
        </p:spPr>
      </p:pic>
      <p:pic>
        <p:nvPicPr>
          <p:cNvPr id="17" name="featpaper-node:39:347" descr="Vecto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7300" y="4203700"/>
            <a:ext cx="126988" cy="100505"/>
          </a:xfrm>
          <a:prstGeom prst="rect">
            <a:avLst/>
          </a:prstGeom>
        </p:spPr>
      </p:pic>
      <p:sp>
        <p:nvSpPr>
          <p:cNvPr id="18" name="featpaper-node:39:193"/>
          <p:cNvSpPr/>
          <p:nvPr/>
        </p:nvSpPr>
        <p:spPr>
          <a:xfrm>
            <a:off x="1625600" y="4107561"/>
            <a:ext cx="1912620" cy="2413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Registration &amp; Login</a:t>
            </a:r>
            <a:endParaRPr lang="en-US" sz="1500" dirty="0"/>
          </a:p>
        </p:txBody>
      </p:sp>
      <p:sp>
        <p:nvSpPr>
          <p:cNvPr id="19" name="featpaper-node:39:194"/>
          <p:cNvSpPr/>
          <p:nvPr/>
        </p:nvSpPr>
        <p:spPr>
          <a:xfrm>
            <a:off x="1625600" y="4362526"/>
            <a:ext cx="4706620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4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Secure mock phone validation with temporary OTP override.</a:t>
            </a:r>
            <a:endParaRPr lang="en-US" sz="1300" dirty="0"/>
          </a:p>
        </p:txBody>
      </p:sp>
      <p:pic>
        <p:nvPicPr>
          <p:cNvPr id="20" name="featpaper-node:39:196" descr="Fram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8400" y="4724400"/>
            <a:ext cx="304800" cy="304800"/>
          </a:xfrm>
          <a:prstGeom prst="rect">
            <a:avLst/>
          </a:prstGeom>
        </p:spPr>
      </p:pic>
      <p:pic>
        <p:nvPicPr>
          <p:cNvPr id="21" name="featpaper-node:39:350" descr="Vecto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7300" y="4826000"/>
            <a:ext cx="126988" cy="100505"/>
          </a:xfrm>
          <a:prstGeom prst="rect">
            <a:avLst/>
          </a:prstGeom>
        </p:spPr>
      </p:pic>
      <p:sp>
        <p:nvSpPr>
          <p:cNvPr id="22" name="featpaper-node:39:199"/>
          <p:cNvSpPr/>
          <p:nvPr/>
        </p:nvSpPr>
        <p:spPr>
          <a:xfrm>
            <a:off x="1625600" y="4729861"/>
            <a:ext cx="2738120" cy="2413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Provider Profiles &amp; Approvals</a:t>
            </a:r>
            <a:endParaRPr lang="en-US" sz="1500" dirty="0"/>
          </a:p>
        </p:txBody>
      </p:sp>
      <p:sp>
        <p:nvSpPr>
          <p:cNvPr id="23" name="featpaper-node:39:200"/>
          <p:cNvSpPr/>
          <p:nvPr/>
        </p:nvSpPr>
        <p:spPr>
          <a:xfrm>
            <a:off x="1625600" y="4984826"/>
            <a:ext cx="4084320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4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Specialist profiles verified by system administrators.</a:t>
            </a:r>
            <a:endParaRPr lang="en-US" sz="1300" dirty="0"/>
          </a:p>
        </p:txBody>
      </p:sp>
      <p:pic>
        <p:nvPicPr>
          <p:cNvPr id="24" name="featpaper-node:39:202" descr="Fram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8400" y="5346700"/>
            <a:ext cx="304800" cy="304800"/>
          </a:xfrm>
          <a:prstGeom prst="rect">
            <a:avLst/>
          </a:prstGeom>
        </p:spPr>
      </p:pic>
      <p:pic>
        <p:nvPicPr>
          <p:cNvPr id="25" name="featpaper-node:39:353" descr="Vecto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7300" y="5448300"/>
            <a:ext cx="126988" cy="100505"/>
          </a:xfrm>
          <a:prstGeom prst="rect">
            <a:avLst/>
          </a:prstGeom>
        </p:spPr>
      </p:pic>
      <p:sp>
        <p:nvSpPr>
          <p:cNvPr id="26" name="featpaper-node:39:205"/>
          <p:cNvSpPr/>
          <p:nvPr/>
        </p:nvSpPr>
        <p:spPr>
          <a:xfrm>
            <a:off x="1625600" y="5352161"/>
            <a:ext cx="3449320" cy="2413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Category Browse &amp; Advanced Filters</a:t>
            </a:r>
            <a:endParaRPr lang="en-US" sz="1500" dirty="0"/>
          </a:p>
        </p:txBody>
      </p:sp>
      <p:sp>
        <p:nvSpPr>
          <p:cNvPr id="27" name="featpaper-node:39:206"/>
          <p:cNvSpPr/>
          <p:nvPr/>
        </p:nvSpPr>
        <p:spPr>
          <a:xfrm>
            <a:off x="1625600" y="5607126"/>
            <a:ext cx="4668520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4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Filter lists based on distance, ratings, and instant availability.</a:t>
            </a:r>
            <a:endParaRPr lang="en-US" sz="1300" dirty="0"/>
          </a:p>
        </p:txBody>
      </p:sp>
      <p:pic>
        <p:nvPicPr>
          <p:cNvPr id="28" name="featpaper-node:39:208" descr="Fram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8400" y="5969000"/>
            <a:ext cx="304800" cy="304800"/>
          </a:xfrm>
          <a:prstGeom prst="rect">
            <a:avLst/>
          </a:prstGeom>
        </p:spPr>
      </p:pic>
      <p:pic>
        <p:nvPicPr>
          <p:cNvPr id="29" name="featpaper-node:39:356" descr="Vecto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7300" y="6070600"/>
            <a:ext cx="126988" cy="100505"/>
          </a:xfrm>
          <a:prstGeom prst="rect">
            <a:avLst/>
          </a:prstGeom>
        </p:spPr>
      </p:pic>
      <p:sp>
        <p:nvSpPr>
          <p:cNvPr id="30" name="featpaper-node:39:211"/>
          <p:cNvSpPr/>
          <p:nvPr/>
        </p:nvSpPr>
        <p:spPr>
          <a:xfrm>
            <a:off x="1625600" y="5974461"/>
            <a:ext cx="2738120" cy="2413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E2E Booking &amp; Status Tracker</a:t>
            </a:r>
            <a:endParaRPr lang="en-US" sz="1500" dirty="0"/>
          </a:p>
        </p:txBody>
      </p:sp>
      <p:sp>
        <p:nvSpPr>
          <p:cNvPr id="31" name="featpaper-node:39:212"/>
          <p:cNvSpPr/>
          <p:nvPr/>
        </p:nvSpPr>
        <p:spPr>
          <a:xfrm>
            <a:off x="1625600" y="6229426"/>
            <a:ext cx="4401820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4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Complete state tracking from reservation to job closure.</a:t>
            </a:r>
            <a:endParaRPr lang="en-US" sz="1300" dirty="0"/>
          </a:p>
        </p:txBody>
      </p:sp>
      <p:pic>
        <p:nvPicPr>
          <p:cNvPr id="32" name="featpaper-node:39:214" descr="Fram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8400" y="6591300"/>
            <a:ext cx="304800" cy="304800"/>
          </a:xfrm>
          <a:prstGeom prst="rect">
            <a:avLst/>
          </a:prstGeom>
        </p:spPr>
      </p:pic>
      <p:pic>
        <p:nvPicPr>
          <p:cNvPr id="33" name="featpaper-node:39:359" descr="Vecto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7300" y="6692900"/>
            <a:ext cx="126988" cy="100505"/>
          </a:xfrm>
          <a:prstGeom prst="rect">
            <a:avLst/>
          </a:prstGeom>
        </p:spPr>
      </p:pic>
      <p:sp>
        <p:nvSpPr>
          <p:cNvPr id="34" name="featpaper-node:39:217"/>
          <p:cNvSpPr/>
          <p:nvPr/>
        </p:nvSpPr>
        <p:spPr>
          <a:xfrm>
            <a:off x="1625600" y="6596761"/>
            <a:ext cx="2471420" cy="2413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Ratings &amp; Service Reviews</a:t>
            </a:r>
            <a:endParaRPr lang="en-US" sz="1500" dirty="0"/>
          </a:p>
        </p:txBody>
      </p:sp>
      <p:sp>
        <p:nvSpPr>
          <p:cNvPr id="35" name="featpaper-node:39:218"/>
          <p:cNvSpPr/>
          <p:nvPr/>
        </p:nvSpPr>
        <p:spPr>
          <a:xfrm>
            <a:off x="1625600" y="6851726"/>
            <a:ext cx="4338320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4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Transparent review accumulation system with real stats.</a:t>
            </a:r>
            <a:endParaRPr lang="en-US" sz="1300" dirty="0"/>
          </a:p>
        </p:txBody>
      </p:sp>
      <p:pic>
        <p:nvPicPr>
          <p:cNvPr id="36" name="featpaper-node:39:219" descr="Deferred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0400" y="3200400"/>
            <a:ext cx="7162800" cy="5130800"/>
          </a:xfrm>
          <a:prstGeom prst="rect">
            <a:avLst/>
          </a:prstGeom>
        </p:spPr>
      </p:pic>
      <p:sp>
        <p:nvSpPr>
          <p:cNvPr id="37" name="featpaper-node:39:221"/>
          <p:cNvSpPr/>
          <p:nvPr/>
        </p:nvSpPr>
        <p:spPr>
          <a:xfrm>
            <a:off x="8636000" y="3560013"/>
            <a:ext cx="2230120" cy="2921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70"/>
              </a:lnSpc>
              <a:buNone/>
            </a:pPr>
            <a:r>
              <a:rPr lang="en-US" sz="1800" dirty="0">
                <a:solidFill>
                  <a:srgbClr val="64748B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Deferred to Sprint 2</a:t>
            </a:r>
            <a:endParaRPr lang="en-US" sz="1800" dirty="0"/>
          </a:p>
        </p:txBody>
      </p:sp>
      <p:pic>
        <p:nvPicPr>
          <p:cNvPr id="38" name="featpaper-node:39:222" descr="Fram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058900" y="3556000"/>
            <a:ext cx="1028700" cy="292100"/>
          </a:xfrm>
          <a:prstGeom prst="rect">
            <a:avLst/>
          </a:prstGeom>
        </p:spPr>
      </p:pic>
      <p:sp>
        <p:nvSpPr>
          <p:cNvPr id="39" name="featpaper-node:39:223"/>
          <p:cNvSpPr/>
          <p:nvPr/>
        </p:nvSpPr>
        <p:spPr>
          <a:xfrm>
            <a:off x="14185900" y="3601009"/>
            <a:ext cx="820420" cy="190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BACKLOG</a:t>
            </a:r>
            <a:endParaRPr lang="en-US" sz="1200" dirty="0"/>
          </a:p>
        </p:txBody>
      </p:sp>
      <p:pic>
        <p:nvPicPr>
          <p:cNvPr id="40" name="featpaper-node:39:225" descr="Item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36000" y="4102100"/>
            <a:ext cx="6451600" cy="469900"/>
          </a:xfrm>
          <a:prstGeom prst="rect">
            <a:avLst/>
          </a:prstGeom>
        </p:spPr>
      </p:pic>
      <p:pic>
        <p:nvPicPr>
          <p:cNvPr id="41" name="featpaper-node:39:231" descr="Item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36000" y="4724400"/>
            <a:ext cx="6451600" cy="469900"/>
          </a:xfrm>
          <a:prstGeom prst="rect">
            <a:avLst/>
          </a:prstGeom>
        </p:spPr>
      </p:pic>
      <p:pic>
        <p:nvPicPr>
          <p:cNvPr id="42" name="featpaper-node:39:237" descr="Item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36000" y="5346700"/>
            <a:ext cx="6451600" cy="469900"/>
          </a:xfrm>
          <a:prstGeom prst="rect">
            <a:avLst/>
          </a:prstGeom>
        </p:spPr>
      </p:pic>
      <p:pic>
        <p:nvPicPr>
          <p:cNvPr id="43" name="featpaper-node:39:243" descr="Item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36000" y="5969000"/>
            <a:ext cx="6451600" cy="469900"/>
          </a:xfrm>
          <a:prstGeom prst="rect">
            <a:avLst/>
          </a:prstGeom>
        </p:spPr>
      </p:pic>
      <p:pic>
        <p:nvPicPr>
          <p:cNvPr id="44" name="featpaper-node:39:249" descr="Item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36000" y="6591300"/>
            <a:ext cx="64516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eatpaper-node:39:256" descr="slide-provider-discover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3" name="featpaper-node:39:258" descr="Head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812800"/>
            <a:ext cx="14630400" cy="711200"/>
          </a:xfrm>
          <a:prstGeom prst="rect">
            <a:avLst/>
          </a:prstGeom>
        </p:spPr>
      </p:pic>
      <p:pic>
        <p:nvPicPr>
          <p:cNvPr id="4" name="featpaper-node:39:260" descr="App Icon Wrap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812800"/>
            <a:ext cx="406400" cy="406400"/>
          </a:xfrm>
          <a:prstGeom prst="rect">
            <a:avLst/>
          </a:prstGeom>
        </p:spPr>
      </p:pic>
      <p:pic>
        <p:nvPicPr>
          <p:cNvPr id="5" name="featpaper-node:39:332" descr="Vecto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100" y="918627"/>
            <a:ext cx="177800" cy="186271"/>
          </a:xfrm>
          <a:prstGeom prst="rect">
            <a:avLst/>
          </a:prstGeom>
        </p:spPr>
      </p:pic>
      <p:sp>
        <p:nvSpPr>
          <p:cNvPr id="6" name="featpaper-node:39:262"/>
          <p:cNvSpPr/>
          <p:nvPr/>
        </p:nvSpPr>
        <p:spPr>
          <a:xfrm>
            <a:off x="1371600" y="873963"/>
            <a:ext cx="1366520" cy="2921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70"/>
              </a:lnSpc>
              <a:buNone/>
            </a:pPr>
            <a:r>
              <a:rPr lang="en-US" sz="1800" dirty="0">
                <a:solidFill>
                  <a:srgbClr val="00647F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HomeServe</a:t>
            </a:r>
            <a:endParaRPr lang="en-US" sz="1800" dirty="0"/>
          </a:p>
        </p:txBody>
      </p:sp>
      <p:sp>
        <p:nvSpPr>
          <p:cNvPr id="7" name="featpaper-node:39:263"/>
          <p:cNvSpPr/>
          <p:nvPr/>
        </p:nvSpPr>
        <p:spPr>
          <a:xfrm>
            <a:off x="2844800" y="907644"/>
            <a:ext cx="1346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/</a:t>
            </a:r>
            <a:endParaRPr lang="en-US" sz="1400" dirty="0"/>
          </a:p>
        </p:txBody>
      </p:sp>
      <p:sp>
        <p:nvSpPr>
          <p:cNvPr id="8" name="featpaper-node:39:264"/>
          <p:cNvSpPr/>
          <p:nvPr/>
        </p:nvSpPr>
        <p:spPr>
          <a:xfrm>
            <a:off x="3086100" y="907644"/>
            <a:ext cx="16332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USER EXPERIENCE</a:t>
            </a:r>
            <a:endParaRPr lang="en-US" sz="1400" dirty="0"/>
          </a:p>
        </p:txBody>
      </p:sp>
      <p:sp>
        <p:nvSpPr>
          <p:cNvPr id="9" name="featpaper-node:39:265"/>
          <p:cNvSpPr/>
          <p:nvPr/>
        </p:nvSpPr>
        <p:spPr>
          <a:xfrm>
            <a:off x="15201900" y="907644"/>
            <a:ext cx="2870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05</a:t>
            </a:r>
            <a:endParaRPr lang="en-US" sz="1400" dirty="0"/>
          </a:p>
        </p:txBody>
      </p:sp>
      <p:sp>
        <p:nvSpPr>
          <p:cNvPr id="10" name="featpaper-node:39:267"/>
          <p:cNvSpPr/>
          <p:nvPr/>
        </p:nvSpPr>
        <p:spPr>
          <a:xfrm>
            <a:off x="812800" y="1927657"/>
            <a:ext cx="6027420" cy="508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030"/>
              </a:lnSpc>
              <a:buNone/>
            </a:pPr>
            <a:r>
              <a:rPr lang="en-US" sz="3200" kern="0" spc="-80" dirty="0">
                <a:solidFill>
                  <a:srgbClr val="0F172A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Mobile Provider Discovery Flow</a:t>
            </a:r>
            <a:endParaRPr lang="en-US" sz="3200" dirty="0"/>
          </a:p>
        </p:txBody>
      </p:sp>
      <p:sp>
        <p:nvSpPr>
          <p:cNvPr id="11" name="featpaper-node:39:268"/>
          <p:cNvSpPr/>
          <p:nvPr/>
        </p:nvSpPr>
        <p:spPr>
          <a:xfrm>
            <a:off x="812800" y="2544978"/>
            <a:ext cx="586232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15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High-fidelity interactive prototype layouts designed in Figma</a:t>
            </a:r>
            <a:endParaRPr lang="en-US" sz="1600" dirty="0"/>
          </a:p>
        </p:txBody>
      </p:sp>
      <p:pic>
        <p:nvPicPr>
          <p:cNvPr id="12" name="featpaper-node:39:271" descr="Phone Wrappe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150" y="3111500"/>
            <a:ext cx="3200400" cy="4724400"/>
          </a:xfrm>
          <a:prstGeom prst="rect">
            <a:avLst/>
          </a:prstGeom>
        </p:spPr>
      </p:pic>
      <p:pic>
        <p:nvPicPr>
          <p:cNvPr id="13" name="featpaper-node:39:272" descr="Rectangl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9350" y="3213100"/>
            <a:ext cx="2692400" cy="4216400"/>
          </a:xfrm>
          <a:prstGeom prst="rect">
            <a:avLst/>
          </a:prstGeom>
        </p:spPr>
      </p:pic>
      <p:sp>
        <p:nvSpPr>
          <p:cNvPr id="14" name="featpaper-node:39:274"/>
          <p:cNvSpPr/>
          <p:nvPr/>
        </p:nvSpPr>
        <p:spPr>
          <a:xfrm>
            <a:off x="1962150" y="7689443"/>
            <a:ext cx="12141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65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Category List</a:t>
            </a:r>
            <a:endParaRPr lang="en-US" sz="1400" dirty="0"/>
          </a:p>
        </p:txBody>
      </p:sp>
      <p:sp>
        <p:nvSpPr>
          <p:cNvPr id="15" name="featpaper-node:39:275"/>
          <p:cNvSpPr/>
          <p:nvPr/>
        </p:nvSpPr>
        <p:spPr>
          <a:xfrm>
            <a:off x="1403350" y="7957591"/>
            <a:ext cx="2331720" cy="355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85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Discover services by specialized industries</a:t>
            </a:r>
            <a:endParaRPr lang="en-US" sz="1100" dirty="0"/>
          </a:p>
        </p:txBody>
      </p:sp>
      <p:pic>
        <p:nvPicPr>
          <p:cNvPr id="16" name="featpaper-node:39:277" descr="Phone Wrappe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250" y="3111500"/>
            <a:ext cx="3200400" cy="4724400"/>
          </a:xfrm>
          <a:prstGeom prst="rect">
            <a:avLst/>
          </a:prstGeom>
        </p:spPr>
      </p:pic>
      <p:pic>
        <p:nvPicPr>
          <p:cNvPr id="17" name="featpaper-node:39:278" descr="Rectangl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0450" y="3213100"/>
            <a:ext cx="2692400" cy="4216400"/>
          </a:xfrm>
          <a:prstGeom prst="rect">
            <a:avLst/>
          </a:prstGeom>
        </p:spPr>
      </p:pic>
      <p:sp>
        <p:nvSpPr>
          <p:cNvPr id="18" name="featpaper-node:39:280"/>
          <p:cNvSpPr/>
          <p:nvPr/>
        </p:nvSpPr>
        <p:spPr>
          <a:xfrm>
            <a:off x="5080000" y="7689443"/>
            <a:ext cx="24206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65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Provider Results with Filters</a:t>
            </a:r>
            <a:endParaRPr lang="en-US" sz="1400" dirty="0"/>
          </a:p>
        </p:txBody>
      </p:sp>
      <p:sp>
        <p:nvSpPr>
          <p:cNvPr id="19" name="featpaper-node:39:281"/>
          <p:cNvSpPr/>
          <p:nvPr/>
        </p:nvSpPr>
        <p:spPr>
          <a:xfrm>
            <a:off x="5124450" y="7957591"/>
            <a:ext cx="2331720" cy="355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85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Compare ratings, distances, and prices</a:t>
            </a:r>
            <a:endParaRPr lang="en-US" sz="1100" dirty="0"/>
          </a:p>
        </p:txBody>
      </p:sp>
      <p:pic>
        <p:nvPicPr>
          <p:cNvPr id="20" name="featpaper-node:39:283" descr="Phone Wrappe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8350" y="3111500"/>
            <a:ext cx="3200400" cy="4724400"/>
          </a:xfrm>
          <a:prstGeom prst="rect">
            <a:avLst/>
          </a:prstGeom>
        </p:spPr>
      </p:pic>
      <p:pic>
        <p:nvPicPr>
          <p:cNvPr id="21" name="featpaper-node:39:284" descr="Rectang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1550" y="3213100"/>
            <a:ext cx="2692400" cy="4216400"/>
          </a:xfrm>
          <a:prstGeom prst="rect">
            <a:avLst/>
          </a:prstGeom>
        </p:spPr>
      </p:pic>
      <p:sp>
        <p:nvSpPr>
          <p:cNvPr id="22" name="featpaper-node:39:286"/>
          <p:cNvSpPr/>
          <p:nvPr/>
        </p:nvSpPr>
        <p:spPr>
          <a:xfrm>
            <a:off x="9188450" y="7689443"/>
            <a:ext cx="16459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65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Filter &amp; Sort Modal</a:t>
            </a:r>
            <a:endParaRPr lang="en-US" sz="1400" dirty="0"/>
          </a:p>
        </p:txBody>
      </p:sp>
      <p:sp>
        <p:nvSpPr>
          <p:cNvPr id="23" name="featpaper-node:39:287"/>
          <p:cNvSpPr/>
          <p:nvPr/>
        </p:nvSpPr>
        <p:spPr>
          <a:xfrm>
            <a:off x="8845550" y="7957591"/>
            <a:ext cx="2331720" cy="355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85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Fine-tune estimates &amp; emergency tags</a:t>
            </a:r>
            <a:endParaRPr lang="en-US" sz="1100" dirty="0"/>
          </a:p>
        </p:txBody>
      </p:sp>
      <p:pic>
        <p:nvPicPr>
          <p:cNvPr id="24" name="featpaper-node:39:289" descr="Phone Wrappe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09450" y="3111500"/>
            <a:ext cx="3200400" cy="4724400"/>
          </a:xfrm>
          <a:prstGeom prst="rect">
            <a:avLst/>
          </a:prstGeom>
        </p:spPr>
      </p:pic>
      <p:pic>
        <p:nvPicPr>
          <p:cNvPr id="25" name="featpaper-node:39:290" descr="Rectangl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12650" y="3213100"/>
            <a:ext cx="2692400" cy="4216400"/>
          </a:xfrm>
          <a:prstGeom prst="rect">
            <a:avLst/>
          </a:prstGeom>
        </p:spPr>
      </p:pic>
      <p:sp>
        <p:nvSpPr>
          <p:cNvPr id="26" name="featpaper-node:39:292"/>
          <p:cNvSpPr/>
          <p:nvPr/>
        </p:nvSpPr>
        <p:spPr>
          <a:xfrm>
            <a:off x="13169900" y="7689443"/>
            <a:ext cx="11252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65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Empty State</a:t>
            </a:r>
            <a:endParaRPr lang="en-US" sz="1400" dirty="0"/>
          </a:p>
        </p:txBody>
      </p:sp>
      <p:sp>
        <p:nvSpPr>
          <p:cNvPr id="27" name="featpaper-node:39:293"/>
          <p:cNvSpPr/>
          <p:nvPr/>
        </p:nvSpPr>
        <p:spPr>
          <a:xfrm>
            <a:off x="12566650" y="7957591"/>
            <a:ext cx="2331720" cy="355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85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Suggests alternative slots &amp; nearby options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eatpaper-node:39:368" descr="slide-booking-flo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3" name="featpaper-node:39:369" descr="Ellips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00" y="0"/>
            <a:ext cx="5080000" cy="5080000"/>
          </a:xfrm>
          <a:prstGeom prst="rect">
            <a:avLst/>
          </a:prstGeom>
        </p:spPr>
      </p:pic>
      <p:pic>
        <p:nvPicPr>
          <p:cNvPr id="4" name="featpaper-node:39:370" descr="Ellip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34000"/>
            <a:ext cx="3810000" cy="3810000"/>
          </a:xfrm>
          <a:prstGeom prst="rect">
            <a:avLst/>
          </a:prstGeom>
        </p:spPr>
      </p:pic>
      <p:pic>
        <p:nvPicPr>
          <p:cNvPr id="5" name="featpaper-node:39:372" descr="Hea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" y="812800"/>
            <a:ext cx="14630400" cy="711200"/>
          </a:xfrm>
          <a:prstGeom prst="rect">
            <a:avLst/>
          </a:prstGeom>
        </p:spPr>
      </p:pic>
      <p:pic>
        <p:nvPicPr>
          <p:cNvPr id="6" name="featpaper-node:39:374" descr="App Icon Wrappe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0" y="812800"/>
            <a:ext cx="406400" cy="406400"/>
          </a:xfrm>
          <a:prstGeom prst="rect">
            <a:avLst/>
          </a:prstGeom>
        </p:spPr>
      </p:pic>
      <p:pic>
        <p:nvPicPr>
          <p:cNvPr id="7" name="featpaper-node:39:376" descr="Vecto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100" y="918627"/>
            <a:ext cx="177800" cy="186271"/>
          </a:xfrm>
          <a:prstGeom prst="rect">
            <a:avLst/>
          </a:prstGeom>
        </p:spPr>
      </p:pic>
      <p:sp>
        <p:nvSpPr>
          <p:cNvPr id="8" name="featpaper-node:39:377"/>
          <p:cNvSpPr/>
          <p:nvPr/>
        </p:nvSpPr>
        <p:spPr>
          <a:xfrm>
            <a:off x="1371600" y="873963"/>
            <a:ext cx="1366520" cy="2921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70"/>
              </a:lnSpc>
              <a:buNone/>
            </a:pPr>
            <a:r>
              <a:rPr lang="en-US" sz="1800" dirty="0">
                <a:solidFill>
                  <a:srgbClr val="00647F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HomeServe</a:t>
            </a:r>
            <a:endParaRPr lang="en-US" sz="1800" dirty="0"/>
          </a:p>
        </p:txBody>
      </p:sp>
      <p:sp>
        <p:nvSpPr>
          <p:cNvPr id="9" name="featpaper-node:39:378"/>
          <p:cNvSpPr/>
          <p:nvPr/>
        </p:nvSpPr>
        <p:spPr>
          <a:xfrm>
            <a:off x="2844800" y="907644"/>
            <a:ext cx="1346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/</a:t>
            </a:r>
            <a:endParaRPr lang="en-US" sz="1400" dirty="0"/>
          </a:p>
        </p:txBody>
      </p:sp>
      <p:sp>
        <p:nvSpPr>
          <p:cNvPr id="10" name="featpaper-node:39:379"/>
          <p:cNvSpPr/>
          <p:nvPr/>
        </p:nvSpPr>
        <p:spPr>
          <a:xfrm>
            <a:off x="3086100" y="907644"/>
            <a:ext cx="14935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BOOKING FLOW</a:t>
            </a:r>
            <a:endParaRPr lang="en-US" sz="1400" dirty="0"/>
          </a:p>
        </p:txBody>
      </p:sp>
      <p:sp>
        <p:nvSpPr>
          <p:cNvPr id="11" name="featpaper-node:39:380"/>
          <p:cNvSpPr/>
          <p:nvPr/>
        </p:nvSpPr>
        <p:spPr>
          <a:xfrm>
            <a:off x="15201900" y="907644"/>
            <a:ext cx="2870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06</a:t>
            </a:r>
            <a:endParaRPr lang="en-US" sz="1400" dirty="0"/>
          </a:p>
        </p:txBody>
      </p:sp>
      <p:sp>
        <p:nvSpPr>
          <p:cNvPr id="12" name="featpaper-node:39:382"/>
          <p:cNvSpPr/>
          <p:nvPr/>
        </p:nvSpPr>
        <p:spPr>
          <a:xfrm>
            <a:off x="812800" y="1876857"/>
            <a:ext cx="5735320" cy="508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030"/>
              </a:lnSpc>
              <a:buNone/>
            </a:pPr>
            <a:r>
              <a:rPr lang="en-US" sz="3200" kern="0" spc="-80" dirty="0">
                <a:solidFill>
                  <a:srgbClr val="0F172A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Seamless Booking Experience</a:t>
            </a:r>
            <a:endParaRPr lang="en-US" sz="3200" dirty="0"/>
          </a:p>
        </p:txBody>
      </p:sp>
      <p:sp>
        <p:nvSpPr>
          <p:cNvPr id="13" name="featpaper-node:39:383"/>
          <p:cNvSpPr/>
          <p:nvPr/>
        </p:nvSpPr>
        <p:spPr>
          <a:xfrm>
            <a:off x="812800" y="2494178"/>
            <a:ext cx="807212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15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High-fidelity on-demand booking loop engineered for user speed and transparency</a:t>
            </a:r>
            <a:endParaRPr lang="en-US" sz="1600" dirty="0"/>
          </a:p>
        </p:txBody>
      </p:sp>
      <p:pic>
        <p:nvPicPr>
          <p:cNvPr id="14" name="featpaper-node:39:387" descr="Phone Wrapp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3403600"/>
            <a:ext cx="2332571" cy="4089400"/>
          </a:xfrm>
          <a:prstGeom prst="rect">
            <a:avLst/>
          </a:prstGeom>
        </p:spPr>
      </p:pic>
      <p:pic>
        <p:nvPicPr>
          <p:cNvPr id="15" name="featpaper-node:39:388" descr="Rectang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800" y="3505200"/>
            <a:ext cx="1926167" cy="3581400"/>
          </a:xfrm>
          <a:prstGeom prst="rect">
            <a:avLst/>
          </a:prstGeom>
        </p:spPr>
      </p:pic>
      <p:sp>
        <p:nvSpPr>
          <p:cNvPr id="16" name="featpaper-node:39:391"/>
          <p:cNvSpPr/>
          <p:nvPr/>
        </p:nvSpPr>
        <p:spPr>
          <a:xfrm>
            <a:off x="1039279" y="7334326"/>
            <a:ext cx="1518920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4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1. Select Schedule</a:t>
            </a:r>
            <a:endParaRPr lang="en-US" sz="1300" dirty="0"/>
          </a:p>
        </p:txBody>
      </p:sp>
      <p:sp>
        <p:nvSpPr>
          <p:cNvPr id="17" name="featpaper-node:39:392"/>
          <p:cNvSpPr/>
          <p:nvPr/>
        </p:nvSpPr>
        <p:spPr>
          <a:xfrm>
            <a:off x="696379" y="7602474"/>
            <a:ext cx="2204720" cy="33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Custom date tile &amp; time window selection with clear slot availability</a:t>
            </a:r>
            <a:endParaRPr lang="en-US" sz="1000" dirty="0"/>
          </a:p>
        </p:txBody>
      </p:sp>
      <p:pic>
        <p:nvPicPr>
          <p:cNvPr id="18" name="featpaper-node:39:395" descr="Vector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07246" y="5654670"/>
            <a:ext cx="127236" cy="120660"/>
          </a:xfrm>
          <a:prstGeom prst="rect">
            <a:avLst/>
          </a:prstGeom>
        </p:spPr>
      </p:pic>
      <p:pic>
        <p:nvPicPr>
          <p:cNvPr id="19" name="featpaper-node:39:397" descr="Phone Wrapp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92971" y="3321050"/>
            <a:ext cx="2332571" cy="4089400"/>
          </a:xfrm>
          <a:prstGeom prst="rect">
            <a:avLst/>
          </a:prstGeom>
        </p:spPr>
      </p:pic>
      <p:pic>
        <p:nvPicPr>
          <p:cNvPr id="20" name="featpaper-node:39:398" descr="Rectangl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96171" y="3422650"/>
            <a:ext cx="1926167" cy="3581400"/>
          </a:xfrm>
          <a:prstGeom prst="rect">
            <a:avLst/>
          </a:prstGeom>
        </p:spPr>
      </p:pic>
      <p:sp>
        <p:nvSpPr>
          <p:cNvPr id="21" name="featpaper-node:39:401"/>
          <p:cNvSpPr/>
          <p:nvPr/>
        </p:nvSpPr>
        <p:spPr>
          <a:xfrm>
            <a:off x="3441700" y="7251776"/>
            <a:ext cx="1480820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4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2. Confirm Details</a:t>
            </a:r>
            <a:endParaRPr lang="en-US" sz="1300" dirty="0"/>
          </a:p>
        </p:txBody>
      </p:sp>
      <p:sp>
        <p:nvSpPr>
          <p:cNvPr id="22" name="featpaper-node:39:402"/>
          <p:cNvSpPr/>
          <p:nvPr/>
        </p:nvSpPr>
        <p:spPr>
          <a:xfrm>
            <a:off x="3079750" y="7519924"/>
            <a:ext cx="2204720" cy="495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SSL 256-bit secured order summary, platform fees, and post-pay support</a:t>
            </a:r>
            <a:endParaRPr lang="en-US" sz="1000" dirty="0"/>
          </a:p>
        </p:txBody>
      </p:sp>
      <p:pic>
        <p:nvPicPr>
          <p:cNvPr id="23" name="featpaper-node:39:405" descr="Vector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90604" y="5654670"/>
            <a:ext cx="127236" cy="120660"/>
          </a:xfrm>
          <a:prstGeom prst="rect">
            <a:avLst/>
          </a:prstGeom>
        </p:spPr>
      </p:pic>
      <p:pic>
        <p:nvPicPr>
          <p:cNvPr id="24" name="featpaper-node:39:407" descr="Phone Wrapp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6329" y="3403600"/>
            <a:ext cx="2332571" cy="4089400"/>
          </a:xfrm>
          <a:prstGeom prst="rect">
            <a:avLst/>
          </a:prstGeom>
        </p:spPr>
      </p:pic>
      <p:pic>
        <p:nvPicPr>
          <p:cNvPr id="25" name="featpaper-node:39:408" descr="Rectangl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79529" y="3505200"/>
            <a:ext cx="1926167" cy="3581400"/>
          </a:xfrm>
          <a:prstGeom prst="rect">
            <a:avLst/>
          </a:prstGeom>
        </p:spPr>
      </p:pic>
      <p:sp>
        <p:nvSpPr>
          <p:cNvPr id="26" name="featpaper-node:39:411"/>
          <p:cNvSpPr/>
          <p:nvPr/>
        </p:nvSpPr>
        <p:spPr>
          <a:xfrm>
            <a:off x="5659958" y="7334326"/>
            <a:ext cx="1811020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4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3. Booking Confirmed</a:t>
            </a:r>
            <a:endParaRPr lang="en-US" sz="1300" dirty="0"/>
          </a:p>
        </p:txBody>
      </p:sp>
      <p:sp>
        <p:nvSpPr>
          <p:cNvPr id="27" name="featpaper-node:39:412"/>
          <p:cNvSpPr/>
          <p:nvPr/>
        </p:nvSpPr>
        <p:spPr>
          <a:xfrm>
            <a:off x="5463108" y="7602474"/>
            <a:ext cx="2204720" cy="33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Real-time request tracking status sheet with instant feedback loops</a:t>
            </a:r>
            <a:endParaRPr lang="en-US" sz="1000" dirty="0"/>
          </a:p>
        </p:txBody>
      </p:sp>
      <p:pic>
        <p:nvPicPr>
          <p:cNvPr id="28" name="featpaper-node:39:413" descr="Feature Callout Card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13700" y="4235450"/>
            <a:ext cx="7429500" cy="2959100"/>
          </a:xfrm>
          <a:prstGeom prst="rect">
            <a:avLst/>
          </a:prstGeom>
        </p:spPr>
      </p:pic>
      <p:sp>
        <p:nvSpPr>
          <p:cNvPr id="29" name="featpaper-node:39:414"/>
          <p:cNvSpPr/>
          <p:nvPr/>
        </p:nvSpPr>
        <p:spPr>
          <a:xfrm>
            <a:off x="8369300" y="4596028"/>
            <a:ext cx="198882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15"/>
              </a:lnSpc>
              <a:buNone/>
            </a:pPr>
            <a:r>
              <a:rPr lang="en-US" sz="1600" dirty="0">
                <a:solidFill>
                  <a:srgbClr val="00647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KEY UI MECHANICS</a:t>
            </a:r>
            <a:endParaRPr lang="en-US" sz="1600" dirty="0"/>
          </a:p>
        </p:txBody>
      </p:sp>
      <p:pic>
        <p:nvPicPr>
          <p:cNvPr id="30" name="featpaper-node:39:417" descr="Fram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69300" y="5099050"/>
            <a:ext cx="304800" cy="304800"/>
          </a:xfrm>
          <a:prstGeom prst="rect">
            <a:avLst/>
          </a:prstGeom>
        </p:spPr>
      </p:pic>
      <p:pic>
        <p:nvPicPr>
          <p:cNvPr id="31" name="featpaper-node:39:419" descr="Vector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58200" y="5200650"/>
            <a:ext cx="126988" cy="100505"/>
          </a:xfrm>
          <a:prstGeom prst="rect">
            <a:avLst/>
          </a:prstGeom>
        </p:spPr>
      </p:pic>
      <p:sp>
        <p:nvSpPr>
          <p:cNvPr id="32" name="featpaper-node:39:421"/>
          <p:cNvSpPr/>
          <p:nvPr/>
        </p:nvSpPr>
        <p:spPr>
          <a:xfrm>
            <a:off x="8826500" y="5104994"/>
            <a:ext cx="19507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Step-by-Step Wizard</a:t>
            </a:r>
            <a:endParaRPr lang="en-US" sz="1400" dirty="0"/>
          </a:p>
        </p:txBody>
      </p:sp>
      <p:sp>
        <p:nvSpPr>
          <p:cNvPr id="33" name="featpaper-node:39:422"/>
          <p:cNvSpPr/>
          <p:nvPr/>
        </p:nvSpPr>
        <p:spPr>
          <a:xfrm>
            <a:off x="8826500" y="5347259"/>
            <a:ext cx="4871720" cy="190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Integrated progress indicator with SSL status reassuring client trust.</a:t>
            </a:r>
            <a:endParaRPr lang="en-US" sz="1200" dirty="0"/>
          </a:p>
        </p:txBody>
      </p:sp>
      <p:pic>
        <p:nvPicPr>
          <p:cNvPr id="34" name="featpaper-node:39:424" descr="Fram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69300" y="5746750"/>
            <a:ext cx="304800" cy="304800"/>
          </a:xfrm>
          <a:prstGeom prst="rect">
            <a:avLst/>
          </a:prstGeom>
        </p:spPr>
      </p:pic>
      <p:pic>
        <p:nvPicPr>
          <p:cNvPr id="35" name="featpaper-node:39:426" descr="Vector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58200" y="5848350"/>
            <a:ext cx="126988" cy="100505"/>
          </a:xfrm>
          <a:prstGeom prst="rect">
            <a:avLst/>
          </a:prstGeom>
        </p:spPr>
      </p:pic>
      <p:sp>
        <p:nvSpPr>
          <p:cNvPr id="36" name="featpaper-node:39:428"/>
          <p:cNvSpPr/>
          <p:nvPr/>
        </p:nvSpPr>
        <p:spPr>
          <a:xfrm>
            <a:off x="8826500" y="5752694"/>
            <a:ext cx="22301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Upfront Pricing Estimator</a:t>
            </a:r>
            <a:endParaRPr lang="en-US" sz="1400" dirty="0"/>
          </a:p>
        </p:txBody>
      </p:sp>
      <p:sp>
        <p:nvSpPr>
          <p:cNvPr id="37" name="featpaper-node:39:429"/>
          <p:cNvSpPr/>
          <p:nvPr/>
        </p:nvSpPr>
        <p:spPr>
          <a:xfrm>
            <a:off x="8826500" y="5994959"/>
            <a:ext cx="4960620" cy="190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Real-time accumulation of base diagnostic and safety platform fees.</a:t>
            </a:r>
            <a:endParaRPr lang="en-US" sz="1200" dirty="0"/>
          </a:p>
        </p:txBody>
      </p:sp>
      <p:pic>
        <p:nvPicPr>
          <p:cNvPr id="38" name="featpaper-node:39:431" descr="Fram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69300" y="6394450"/>
            <a:ext cx="304800" cy="304800"/>
          </a:xfrm>
          <a:prstGeom prst="rect">
            <a:avLst/>
          </a:prstGeom>
        </p:spPr>
      </p:pic>
      <p:pic>
        <p:nvPicPr>
          <p:cNvPr id="39" name="featpaper-node:39:433" descr="Vector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58200" y="6496050"/>
            <a:ext cx="126988" cy="100505"/>
          </a:xfrm>
          <a:prstGeom prst="rect">
            <a:avLst/>
          </a:prstGeom>
        </p:spPr>
      </p:pic>
      <p:sp>
        <p:nvSpPr>
          <p:cNvPr id="40" name="featpaper-node:39:435"/>
          <p:cNvSpPr/>
          <p:nvPr/>
        </p:nvSpPr>
        <p:spPr>
          <a:xfrm>
            <a:off x="8826500" y="6400394"/>
            <a:ext cx="20142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Live Handshake Polling</a:t>
            </a:r>
            <a:endParaRPr lang="en-US" sz="1400" dirty="0"/>
          </a:p>
        </p:txBody>
      </p:sp>
      <p:sp>
        <p:nvSpPr>
          <p:cNvPr id="41" name="featpaper-node:39:436"/>
          <p:cNvSpPr/>
          <p:nvPr/>
        </p:nvSpPr>
        <p:spPr>
          <a:xfrm>
            <a:off x="8826500" y="6642659"/>
            <a:ext cx="5341620" cy="190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5-second asynchronous lookup to verify provider availability immediately.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eatpaper-node:39:438" descr="slide-provider-ecosyste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3" name="featpaper-node:39:439" descr="Ellips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00" y="0"/>
            <a:ext cx="5080000" cy="5080000"/>
          </a:xfrm>
          <a:prstGeom prst="rect">
            <a:avLst/>
          </a:prstGeom>
        </p:spPr>
      </p:pic>
      <p:pic>
        <p:nvPicPr>
          <p:cNvPr id="4" name="featpaper-node:39:440" descr="Ellip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34000"/>
            <a:ext cx="3810000" cy="3810000"/>
          </a:xfrm>
          <a:prstGeom prst="rect">
            <a:avLst/>
          </a:prstGeom>
        </p:spPr>
      </p:pic>
      <p:pic>
        <p:nvPicPr>
          <p:cNvPr id="5" name="featpaper-node:39:442" descr="Hea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" y="812800"/>
            <a:ext cx="14630400" cy="711200"/>
          </a:xfrm>
          <a:prstGeom prst="rect">
            <a:avLst/>
          </a:prstGeom>
        </p:spPr>
      </p:pic>
      <p:pic>
        <p:nvPicPr>
          <p:cNvPr id="6" name="featpaper-node:39:444" descr="App Icon Wrappe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0" y="812800"/>
            <a:ext cx="406400" cy="406400"/>
          </a:xfrm>
          <a:prstGeom prst="rect">
            <a:avLst/>
          </a:prstGeom>
        </p:spPr>
      </p:pic>
      <p:pic>
        <p:nvPicPr>
          <p:cNvPr id="7" name="featpaper-node:39:446" descr="Vecto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100" y="918627"/>
            <a:ext cx="177800" cy="186271"/>
          </a:xfrm>
          <a:prstGeom prst="rect">
            <a:avLst/>
          </a:prstGeom>
        </p:spPr>
      </p:pic>
      <p:sp>
        <p:nvSpPr>
          <p:cNvPr id="8" name="featpaper-node:39:447"/>
          <p:cNvSpPr/>
          <p:nvPr/>
        </p:nvSpPr>
        <p:spPr>
          <a:xfrm>
            <a:off x="1371600" y="873963"/>
            <a:ext cx="1366520" cy="2921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70"/>
              </a:lnSpc>
              <a:buNone/>
            </a:pPr>
            <a:r>
              <a:rPr lang="en-US" sz="1800" dirty="0">
                <a:solidFill>
                  <a:srgbClr val="00647F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HomeServe</a:t>
            </a:r>
            <a:endParaRPr lang="en-US" sz="1800" dirty="0"/>
          </a:p>
        </p:txBody>
      </p:sp>
      <p:sp>
        <p:nvSpPr>
          <p:cNvPr id="9" name="featpaper-node:39:448"/>
          <p:cNvSpPr/>
          <p:nvPr/>
        </p:nvSpPr>
        <p:spPr>
          <a:xfrm>
            <a:off x="2844800" y="907644"/>
            <a:ext cx="1346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/</a:t>
            </a:r>
            <a:endParaRPr lang="en-US" sz="1400" dirty="0"/>
          </a:p>
        </p:txBody>
      </p:sp>
      <p:sp>
        <p:nvSpPr>
          <p:cNvPr id="10" name="featpaper-node:39:449"/>
          <p:cNvSpPr/>
          <p:nvPr/>
        </p:nvSpPr>
        <p:spPr>
          <a:xfrm>
            <a:off x="3086100" y="907644"/>
            <a:ext cx="20904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PROVIDER ECOSYSTEM</a:t>
            </a:r>
            <a:endParaRPr lang="en-US" sz="1400" dirty="0"/>
          </a:p>
        </p:txBody>
      </p:sp>
      <p:sp>
        <p:nvSpPr>
          <p:cNvPr id="11" name="featpaper-node:39:450"/>
          <p:cNvSpPr/>
          <p:nvPr/>
        </p:nvSpPr>
        <p:spPr>
          <a:xfrm>
            <a:off x="15214600" y="907644"/>
            <a:ext cx="2743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07</a:t>
            </a:r>
            <a:endParaRPr lang="en-US" sz="1400" dirty="0"/>
          </a:p>
        </p:txBody>
      </p:sp>
      <p:sp>
        <p:nvSpPr>
          <p:cNvPr id="12" name="featpaper-node:39:452"/>
          <p:cNvSpPr/>
          <p:nvPr/>
        </p:nvSpPr>
        <p:spPr>
          <a:xfrm>
            <a:off x="812800" y="1876857"/>
            <a:ext cx="4605020" cy="508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030"/>
              </a:lnSpc>
              <a:buNone/>
            </a:pPr>
            <a:r>
              <a:rPr lang="en-US" sz="3200" kern="0" spc="-80" dirty="0">
                <a:solidFill>
                  <a:srgbClr val="0F172A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The Provider Ecosystem</a:t>
            </a:r>
            <a:endParaRPr lang="en-US" sz="3200" dirty="0"/>
          </a:p>
        </p:txBody>
      </p:sp>
      <p:sp>
        <p:nvSpPr>
          <p:cNvPr id="13" name="featpaper-node:39:453"/>
          <p:cNvSpPr/>
          <p:nvPr/>
        </p:nvSpPr>
        <p:spPr>
          <a:xfrm>
            <a:off x="812800" y="2494178"/>
            <a:ext cx="694182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15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Comprehensive credential verification and multi-sided quality guardrails</a:t>
            </a:r>
            <a:endParaRPr lang="en-US" sz="1600" dirty="0"/>
          </a:p>
        </p:txBody>
      </p:sp>
      <p:pic>
        <p:nvPicPr>
          <p:cNvPr id="14" name="featpaper-node:39:457" descr="Phone Wrapp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700" y="3403600"/>
            <a:ext cx="2819400" cy="4089400"/>
          </a:xfrm>
          <a:prstGeom prst="rect">
            <a:avLst/>
          </a:prstGeom>
        </p:spPr>
      </p:pic>
      <p:pic>
        <p:nvPicPr>
          <p:cNvPr id="15" name="featpaper-node:39:458" descr="Rectang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3505200"/>
            <a:ext cx="2311400" cy="3581400"/>
          </a:xfrm>
          <a:prstGeom prst="rect">
            <a:avLst/>
          </a:prstGeom>
        </p:spPr>
      </p:pic>
      <p:sp>
        <p:nvSpPr>
          <p:cNvPr id="16" name="featpaper-node:39:461"/>
          <p:cNvSpPr/>
          <p:nvPr/>
        </p:nvSpPr>
        <p:spPr>
          <a:xfrm>
            <a:off x="1308100" y="7334326"/>
            <a:ext cx="1290320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4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Provider Profile</a:t>
            </a:r>
            <a:endParaRPr lang="en-US" sz="1300" dirty="0"/>
          </a:p>
        </p:txBody>
      </p:sp>
      <p:sp>
        <p:nvSpPr>
          <p:cNvPr id="17" name="featpaper-node:39:462"/>
          <p:cNvSpPr/>
          <p:nvPr/>
        </p:nvSpPr>
        <p:spPr>
          <a:xfrm>
            <a:off x="850900" y="7602474"/>
            <a:ext cx="2204720" cy="33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Portfolio display, live status badge, categorized star review system</a:t>
            </a:r>
            <a:endParaRPr lang="en-US" sz="1000" dirty="0"/>
          </a:p>
        </p:txBody>
      </p:sp>
      <p:pic>
        <p:nvPicPr>
          <p:cNvPr id="18" name="featpaper-node:39:464" descr="Phone Wrapp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59100" y="3403600"/>
            <a:ext cx="2819400" cy="4089400"/>
          </a:xfrm>
          <a:prstGeom prst="rect">
            <a:avLst/>
          </a:prstGeom>
        </p:spPr>
      </p:pic>
      <p:pic>
        <p:nvPicPr>
          <p:cNvPr id="19" name="featpaper-node:39:465" descr="Rectangl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62300" y="3505200"/>
            <a:ext cx="2311400" cy="3581400"/>
          </a:xfrm>
          <a:prstGeom prst="rect">
            <a:avLst/>
          </a:prstGeom>
        </p:spPr>
      </p:pic>
      <p:sp>
        <p:nvSpPr>
          <p:cNvPr id="20" name="featpaper-node:39:468"/>
          <p:cNvSpPr/>
          <p:nvPr/>
        </p:nvSpPr>
        <p:spPr>
          <a:xfrm>
            <a:off x="3714750" y="7334326"/>
            <a:ext cx="1353820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4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Setup &amp; Skill Set</a:t>
            </a:r>
            <a:endParaRPr lang="en-US" sz="1300" dirty="0"/>
          </a:p>
        </p:txBody>
      </p:sp>
      <p:sp>
        <p:nvSpPr>
          <p:cNvPr id="21" name="featpaper-node:39:469"/>
          <p:cNvSpPr/>
          <p:nvPr/>
        </p:nvSpPr>
        <p:spPr>
          <a:xfrm>
            <a:off x="3289300" y="7602474"/>
            <a:ext cx="2204720" cy="33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Multi-select specialty grid &amp; upload port for job portfolio photos</a:t>
            </a:r>
            <a:endParaRPr lang="en-US" sz="1000" dirty="0"/>
          </a:p>
        </p:txBody>
      </p:sp>
      <p:pic>
        <p:nvPicPr>
          <p:cNvPr id="22" name="featpaper-node:39:471" descr="Phone Wrapp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7500" y="3403600"/>
            <a:ext cx="2819400" cy="4089400"/>
          </a:xfrm>
          <a:prstGeom prst="rect">
            <a:avLst/>
          </a:prstGeom>
        </p:spPr>
      </p:pic>
      <p:pic>
        <p:nvPicPr>
          <p:cNvPr id="23" name="featpaper-node:39:472" descr="Rectangl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00700" y="3505200"/>
            <a:ext cx="2311400" cy="3581400"/>
          </a:xfrm>
          <a:prstGeom prst="rect">
            <a:avLst/>
          </a:prstGeom>
        </p:spPr>
      </p:pic>
      <p:sp>
        <p:nvSpPr>
          <p:cNvPr id="24" name="featpaper-node:39:475"/>
          <p:cNvSpPr/>
          <p:nvPr/>
        </p:nvSpPr>
        <p:spPr>
          <a:xfrm>
            <a:off x="6223000" y="7334326"/>
            <a:ext cx="1214120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4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Admin Control</a:t>
            </a:r>
            <a:endParaRPr lang="en-US" sz="1300" dirty="0"/>
          </a:p>
        </p:txBody>
      </p:sp>
      <p:sp>
        <p:nvSpPr>
          <p:cNvPr id="25" name="featpaper-node:39:476"/>
          <p:cNvSpPr/>
          <p:nvPr/>
        </p:nvSpPr>
        <p:spPr>
          <a:xfrm>
            <a:off x="5727700" y="7602474"/>
            <a:ext cx="2204720" cy="33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FastAPI driven pending review and credential verification status</a:t>
            </a:r>
            <a:endParaRPr lang="en-US" sz="1000" dirty="0"/>
          </a:p>
        </p:txBody>
      </p:sp>
      <p:pic>
        <p:nvPicPr>
          <p:cNvPr id="26" name="featpaper-node:39:478" descr="Trust Card 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31200" y="5080000"/>
            <a:ext cx="6018175" cy="1079500"/>
          </a:xfrm>
          <a:prstGeom prst="rect">
            <a:avLst/>
          </a:prstGeom>
        </p:spPr>
      </p:pic>
      <p:pic>
        <p:nvPicPr>
          <p:cNvPr id="27" name="featpaper-node:39:480" descr="Fram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85200" y="5334000"/>
            <a:ext cx="825500" cy="279400"/>
          </a:xfrm>
          <a:prstGeom prst="rect">
            <a:avLst/>
          </a:prstGeom>
        </p:spPr>
      </p:pic>
      <p:sp>
        <p:nvSpPr>
          <p:cNvPr id="28" name="featpaper-node:39:481"/>
          <p:cNvSpPr/>
          <p:nvPr/>
        </p:nvSpPr>
        <p:spPr>
          <a:xfrm>
            <a:off x="8686800" y="5379491"/>
            <a:ext cx="668020" cy="177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85"/>
              </a:lnSpc>
              <a:buNone/>
            </a:pPr>
            <a:r>
              <a:rPr lang="en-US" sz="1100" dirty="0">
                <a:solidFill>
                  <a:srgbClr val="047857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VERIFIED</a:t>
            </a:r>
            <a:endParaRPr lang="en-US" sz="1100" dirty="0"/>
          </a:p>
        </p:txBody>
      </p:sp>
      <p:sp>
        <p:nvSpPr>
          <p:cNvPr id="29" name="featpaper-node:39:482"/>
          <p:cNvSpPr/>
          <p:nvPr/>
        </p:nvSpPr>
        <p:spPr>
          <a:xfrm>
            <a:off x="9512300" y="5358511"/>
            <a:ext cx="1607820" cy="2413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Specialist Badge</a:t>
            </a:r>
            <a:endParaRPr lang="en-US" sz="1500" dirty="0"/>
          </a:p>
        </p:txBody>
      </p:sp>
      <p:sp>
        <p:nvSpPr>
          <p:cNvPr id="30" name="featpaper-node:39:483"/>
          <p:cNvSpPr/>
          <p:nvPr/>
        </p:nvSpPr>
        <p:spPr>
          <a:xfrm>
            <a:off x="8585200" y="5709209"/>
            <a:ext cx="5836920" cy="190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Verified status with police background checking to unlock on-site home security.</a:t>
            </a:r>
            <a:endParaRPr lang="en-US" sz="1200" dirty="0"/>
          </a:p>
        </p:txBody>
      </p:sp>
      <p:pic>
        <p:nvPicPr>
          <p:cNvPr id="31" name="featpaper-node:39:484" descr="Trust Card 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988800" y="5080000"/>
            <a:ext cx="4267200" cy="1079500"/>
          </a:xfrm>
          <a:prstGeom prst="rect">
            <a:avLst/>
          </a:prstGeom>
        </p:spPr>
      </p:pic>
      <p:pic>
        <p:nvPicPr>
          <p:cNvPr id="32" name="featpaper-node:39:486" descr="Fram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242800" y="5334000"/>
            <a:ext cx="1028700" cy="279400"/>
          </a:xfrm>
          <a:prstGeom prst="rect">
            <a:avLst/>
          </a:prstGeom>
        </p:spPr>
      </p:pic>
      <p:sp>
        <p:nvSpPr>
          <p:cNvPr id="33" name="featpaper-node:39:487"/>
          <p:cNvSpPr/>
          <p:nvPr/>
        </p:nvSpPr>
        <p:spPr>
          <a:xfrm>
            <a:off x="12344400" y="5379491"/>
            <a:ext cx="871220" cy="177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85"/>
              </a:lnSpc>
              <a:buNone/>
            </a:pPr>
            <a:r>
              <a:rPr lang="en-US" sz="1100" dirty="0">
                <a:solidFill>
                  <a:srgbClr val="00647F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PORTFOLIO</a:t>
            </a:r>
            <a:endParaRPr lang="en-US" sz="1100" dirty="0"/>
          </a:p>
        </p:txBody>
      </p:sp>
      <p:sp>
        <p:nvSpPr>
          <p:cNvPr id="34" name="featpaper-node:39:488"/>
          <p:cNvSpPr/>
          <p:nvPr/>
        </p:nvSpPr>
        <p:spPr>
          <a:xfrm>
            <a:off x="13373100" y="5358511"/>
            <a:ext cx="1747520" cy="2413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Finished Job Proof</a:t>
            </a:r>
            <a:endParaRPr lang="en-US" sz="1500" dirty="0"/>
          </a:p>
        </p:txBody>
      </p:sp>
      <p:sp>
        <p:nvSpPr>
          <p:cNvPr id="35" name="featpaper-node:39:489"/>
          <p:cNvSpPr/>
          <p:nvPr/>
        </p:nvSpPr>
        <p:spPr>
          <a:xfrm>
            <a:off x="12242800" y="5709209"/>
            <a:ext cx="4058920" cy="190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Providers showcase prior electrical installations or AC setups directly inside the client app.</a:t>
            </a:r>
            <a:endParaRPr lang="en-US" sz="1200" dirty="0"/>
          </a:p>
        </p:txBody>
      </p:sp>
      <p:pic>
        <p:nvPicPr>
          <p:cNvPr id="36" name="featpaper-node:39:490" descr="Trust Card 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31200" y="5816600"/>
            <a:ext cx="6213884" cy="1079500"/>
          </a:xfrm>
          <a:prstGeom prst="rect">
            <a:avLst/>
          </a:prstGeom>
        </p:spPr>
      </p:pic>
      <p:pic>
        <p:nvPicPr>
          <p:cNvPr id="37" name="featpaper-node:39:492" descr="Frame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85200" y="6070600"/>
            <a:ext cx="812800" cy="279400"/>
          </a:xfrm>
          <a:prstGeom prst="rect">
            <a:avLst/>
          </a:prstGeom>
        </p:spPr>
      </p:pic>
      <p:sp>
        <p:nvSpPr>
          <p:cNvPr id="38" name="featpaper-node:39:493"/>
          <p:cNvSpPr/>
          <p:nvPr/>
        </p:nvSpPr>
        <p:spPr>
          <a:xfrm>
            <a:off x="8686800" y="6116091"/>
            <a:ext cx="655320" cy="177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85"/>
              </a:lnSpc>
              <a:buNone/>
            </a:pPr>
            <a:r>
              <a:rPr lang="en-US" sz="1100" dirty="0">
                <a:solidFill>
                  <a:srgbClr val="856404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RATINGS</a:t>
            </a:r>
            <a:endParaRPr lang="en-US" sz="1100" dirty="0"/>
          </a:p>
        </p:txBody>
      </p:sp>
      <p:sp>
        <p:nvSpPr>
          <p:cNvPr id="39" name="featpaper-node:39:494"/>
          <p:cNvSpPr/>
          <p:nvPr/>
        </p:nvSpPr>
        <p:spPr>
          <a:xfrm>
            <a:off x="9499600" y="6095111"/>
            <a:ext cx="1849120" cy="2413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Aggregate Reviews</a:t>
            </a:r>
            <a:endParaRPr lang="en-US" sz="1500" dirty="0"/>
          </a:p>
        </p:txBody>
      </p:sp>
      <p:sp>
        <p:nvSpPr>
          <p:cNvPr id="40" name="featpaper-node:39:495"/>
          <p:cNvSpPr/>
          <p:nvPr/>
        </p:nvSpPr>
        <p:spPr>
          <a:xfrm>
            <a:off x="8585200" y="6445809"/>
            <a:ext cx="6027420" cy="190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Client review submissions generate transparent rating distributions for every profile.</a:t>
            </a:r>
            <a:endParaRPr lang="en-US" sz="1200" dirty="0"/>
          </a:p>
        </p:txBody>
      </p:sp>
      <p:pic>
        <p:nvPicPr>
          <p:cNvPr id="41" name="featpaper-node:39:496" descr="Trust Card 4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988800" y="5816600"/>
            <a:ext cx="4267200" cy="1079500"/>
          </a:xfrm>
          <a:prstGeom prst="rect">
            <a:avLst/>
          </a:prstGeom>
        </p:spPr>
      </p:pic>
      <p:pic>
        <p:nvPicPr>
          <p:cNvPr id="42" name="featpaper-node:39:498" descr="Frame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242800" y="6070600"/>
            <a:ext cx="952500" cy="279400"/>
          </a:xfrm>
          <a:prstGeom prst="rect">
            <a:avLst/>
          </a:prstGeom>
        </p:spPr>
      </p:pic>
      <p:sp>
        <p:nvSpPr>
          <p:cNvPr id="43" name="featpaper-node:39:499"/>
          <p:cNvSpPr/>
          <p:nvPr/>
        </p:nvSpPr>
        <p:spPr>
          <a:xfrm>
            <a:off x="12344400" y="6116091"/>
            <a:ext cx="795020" cy="177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85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OPS FLOW</a:t>
            </a:r>
            <a:endParaRPr lang="en-US" sz="1100" dirty="0"/>
          </a:p>
        </p:txBody>
      </p:sp>
      <p:sp>
        <p:nvSpPr>
          <p:cNvPr id="44" name="featpaper-node:39:500"/>
          <p:cNvSpPr/>
          <p:nvPr/>
        </p:nvSpPr>
        <p:spPr>
          <a:xfrm>
            <a:off x="13296900" y="6095111"/>
            <a:ext cx="1607820" cy="2413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Admin Oversight</a:t>
            </a:r>
            <a:endParaRPr lang="en-US" sz="1500" dirty="0"/>
          </a:p>
        </p:txBody>
      </p:sp>
      <p:sp>
        <p:nvSpPr>
          <p:cNvPr id="45" name="featpaper-node:39:501"/>
          <p:cNvSpPr/>
          <p:nvPr/>
        </p:nvSpPr>
        <p:spPr>
          <a:xfrm>
            <a:off x="12242800" y="6445809"/>
            <a:ext cx="4058920" cy="190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Operations team acts as quality gatekeeper, manually validating profiles within 12-24 hours.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eatpaper-node:39:503" descr="slide-tech-architectur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3" name="featpaper-node:39:504" descr="Ellips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00" y="0"/>
            <a:ext cx="5080000" cy="5080000"/>
          </a:xfrm>
          <a:prstGeom prst="rect">
            <a:avLst/>
          </a:prstGeom>
        </p:spPr>
      </p:pic>
      <p:pic>
        <p:nvPicPr>
          <p:cNvPr id="4" name="featpaper-node:39:505" descr="Ellip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34000"/>
            <a:ext cx="3810000" cy="3810000"/>
          </a:xfrm>
          <a:prstGeom prst="rect">
            <a:avLst/>
          </a:prstGeom>
        </p:spPr>
      </p:pic>
      <p:pic>
        <p:nvPicPr>
          <p:cNvPr id="5" name="featpaper-node:39:507" descr="Hea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" y="812800"/>
            <a:ext cx="14630400" cy="711200"/>
          </a:xfrm>
          <a:prstGeom prst="rect">
            <a:avLst/>
          </a:prstGeom>
        </p:spPr>
      </p:pic>
      <p:pic>
        <p:nvPicPr>
          <p:cNvPr id="6" name="featpaper-node:39:509" descr="App Icon Wrappe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0" y="812800"/>
            <a:ext cx="406400" cy="406400"/>
          </a:xfrm>
          <a:prstGeom prst="rect">
            <a:avLst/>
          </a:prstGeom>
        </p:spPr>
      </p:pic>
      <p:pic>
        <p:nvPicPr>
          <p:cNvPr id="7" name="featpaper-node:39:511" descr="Vecto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100" y="918627"/>
            <a:ext cx="177800" cy="186271"/>
          </a:xfrm>
          <a:prstGeom prst="rect">
            <a:avLst/>
          </a:prstGeom>
        </p:spPr>
      </p:pic>
      <p:sp>
        <p:nvSpPr>
          <p:cNvPr id="8" name="featpaper-node:39:512"/>
          <p:cNvSpPr/>
          <p:nvPr/>
        </p:nvSpPr>
        <p:spPr>
          <a:xfrm>
            <a:off x="1371600" y="873963"/>
            <a:ext cx="1366520" cy="2921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70"/>
              </a:lnSpc>
              <a:buNone/>
            </a:pPr>
            <a:r>
              <a:rPr lang="en-US" sz="1800" dirty="0">
                <a:solidFill>
                  <a:srgbClr val="00647F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HomeServe</a:t>
            </a:r>
            <a:endParaRPr lang="en-US" sz="1800" dirty="0"/>
          </a:p>
        </p:txBody>
      </p:sp>
      <p:sp>
        <p:nvSpPr>
          <p:cNvPr id="9" name="featpaper-node:39:513"/>
          <p:cNvSpPr/>
          <p:nvPr/>
        </p:nvSpPr>
        <p:spPr>
          <a:xfrm>
            <a:off x="2844800" y="907644"/>
            <a:ext cx="1346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/</a:t>
            </a:r>
            <a:endParaRPr lang="en-US" sz="1400" dirty="0"/>
          </a:p>
        </p:txBody>
      </p:sp>
      <p:sp>
        <p:nvSpPr>
          <p:cNvPr id="10" name="featpaper-node:39:514"/>
          <p:cNvSpPr/>
          <p:nvPr/>
        </p:nvSpPr>
        <p:spPr>
          <a:xfrm>
            <a:off x="3086100" y="907644"/>
            <a:ext cx="24333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TECHNICAL ARCHITECTURE</a:t>
            </a:r>
            <a:endParaRPr lang="en-US" sz="1400" dirty="0"/>
          </a:p>
        </p:txBody>
      </p:sp>
      <p:sp>
        <p:nvSpPr>
          <p:cNvPr id="11" name="featpaper-node:39:515"/>
          <p:cNvSpPr/>
          <p:nvPr/>
        </p:nvSpPr>
        <p:spPr>
          <a:xfrm>
            <a:off x="15201900" y="907644"/>
            <a:ext cx="2870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08</a:t>
            </a:r>
            <a:endParaRPr lang="en-US" sz="1400" dirty="0"/>
          </a:p>
        </p:txBody>
      </p:sp>
      <p:sp>
        <p:nvSpPr>
          <p:cNvPr id="12" name="featpaper-node:39:517"/>
          <p:cNvSpPr/>
          <p:nvPr/>
        </p:nvSpPr>
        <p:spPr>
          <a:xfrm>
            <a:off x="812800" y="1876857"/>
            <a:ext cx="6637020" cy="508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030"/>
              </a:lnSpc>
              <a:buNone/>
            </a:pPr>
            <a:r>
              <a:rPr lang="en-US" sz="3200" kern="0" spc="-80" dirty="0">
                <a:solidFill>
                  <a:srgbClr val="0F172A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Robust &amp; Lightweight Architecture</a:t>
            </a:r>
            <a:endParaRPr lang="en-US" sz="3200" dirty="0"/>
          </a:p>
        </p:txBody>
      </p:sp>
      <p:sp>
        <p:nvSpPr>
          <p:cNvPr id="13" name="featpaper-node:39:518"/>
          <p:cNvSpPr/>
          <p:nvPr/>
        </p:nvSpPr>
        <p:spPr>
          <a:xfrm>
            <a:off x="812800" y="2494178"/>
            <a:ext cx="785622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15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Clean decoupling of cross-platform frontend and stateless REST API components</a:t>
            </a:r>
            <a:endParaRPr lang="en-US" sz="1600" dirty="0"/>
          </a:p>
        </p:txBody>
      </p:sp>
      <p:pic>
        <p:nvPicPr>
          <p:cNvPr id="14" name="featpaper-node:39:520" descr="Frontend Car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0" y="3098800"/>
            <a:ext cx="4673600" cy="5232400"/>
          </a:xfrm>
          <a:prstGeom prst="rect">
            <a:avLst/>
          </a:prstGeom>
        </p:spPr>
      </p:pic>
      <p:pic>
        <p:nvPicPr>
          <p:cNvPr id="15" name="featpaper-node:39:522" descr="Fram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68400" y="3460750"/>
            <a:ext cx="698500" cy="279400"/>
          </a:xfrm>
          <a:prstGeom prst="rect">
            <a:avLst/>
          </a:prstGeom>
        </p:spPr>
      </p:pic>
      <p:sp>
        <p:nvSpPr>
          <p:cNvPr id="16" name="featpaper-node:39:523"/>
          <p:cNvSpPr/>
          <p:nvPr/>
        </p:nvSpPr>
        <p:spPr>
          <a:xfrm>
            <a:off x="1270000" y="3506241"/>
            <a:ext cx="541020" cy="177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85"/>
              </a:lnSpc>
              <a:buNone/>
            </a:pPr>
            <a:r>
              <a:rPr lang="en-US" sz="1100" dirty="0">
                <a:solidFill>
                  <a:srgbClr val="00647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CLIENT</a:t>
            </a:r>
            <a:endParaRPr lang="en-US" sz="1100" dirty="0"/>
          </a:p>
        </p:txBody>
      </p:sp>
      <p:sp>
        <p:nvSpPr>
          <p:cNvPr id="17" name="featpaper-node:39:524"/>
          <p:cNvSpPr/>
          <p:nvPr/>
        </p:nvSpPr>
        <p:spPr>
          <a:xfrm>
            <a:off x="1968500" y="3458413"/>
            <a:ext cx="1772920" cy="2921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7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Frontend Stack</a:t>
            </a:r>
            <a:endParaRPr lang="en-US" sz="1800" dirty="0"/>
          </a:p>
        </p:txBody>
      </p:sp>
      <p:sp>
        <p:nvSpPr>
          <p:cNvPr id="18" name="featpaper-node:39:527"/>
          <p:cNvSpPr/>
          <p:nvPr/>
        </p:nvSpPr>
        <p:spPr>
          <a:xfrm>
            <a:off x="1168400" y="4005961"/>
            <a:ext cx="2319020" cy="2413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• Flutter Cross-Platform</a:t>
            </a:r>
            <a:endParaRPr lang="en-US" sz="1500" dirty="0"/>
          </a:p>
        </p:txBody>
      </p:sp>
      <p:sp>
        <p:nvSpPr>
          <p:cNvPr id="19" name="featpaper-node:39:528"/>
          <p:cNvSpPr/>
          <p:nvPr/>
        </p:nvSpPr>
        <p:spPr>
          <a:xfrm>
            <a:off x="1168400" y="4286326"/>
            <a:ext cx="4008120" cy="406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4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Single dart codebase powering high-fidelity UI compilation for iOS, Android, and Web clients.</a:t>
            </a:r>
            <a:endParaRPr lang="en-US" sz="1300" dirty="0"/>
          </a:p>
        </p:txBody>
      </p:sp>
      <p:sp>
        <p:nvSpPr>
          <p:cNvPr id="20" name="featpaper-node:39:530"/>
          <p:cNvSpPr/>
          <p:nvPr/>
        </p:nvSpPr>
        <p:spPr>
          <a:xfrm>
            <a:off x="1168400" y="4907661"/>
            <a:ext cx="2865120" cy="2413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• Riverpod State Management</a:t>
            </a:r>
            <a:endParaRPr lang="en-US" sz="1500" dirty="0"/>
          </a:p>
        </p:txBody>
      </p:sp>
      <p:sp>
        <p:nvSpPr>
          <p:cNvPr id="21" name="featpaper-node:39:531"/>
          <p:cNvSpPr/>
          <p:nvPr/>
        </p:nvSpPr>
        <p:spPr>
          <a:xfrm>
            <a:off x="1168400" y="5188026"/>
            <a:ext cx="4008120" cy="406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4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Global caching and reactive asynchronous state providers to cleanly decouple UI from requests.</a:t>
            </a:r>
            <a:endParaRPr lang="en-US" sz="1300" dirty="0"/>
          </a:p>
        </p:txBody>
      </p:sp>
      <p:sp>
        <p:nvSpPr>
          <p:cNvPr id="22" name="featpaper-node:39:533"/>
          <p:cNvSpPr/>
          <p:nvPr/>
        </p:nvSpPr>
        <p:spPr>
          <a:xfrm>
            <a:off x="1168400" y="5809361"/>
            <a:ext cx="2153920" cy="2413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• GoRouter Navigation</a:t>
            </a:r>
            <a:endParaRPr lang="en-US" sz="1500" dirty="0"/>
          </a:p>
        </p:txBody>
      </p:sp>
      <p:sp>
        <p:nvSpPr>
          <p:cNvPr id="23" name="featpaper-node:39:534"/>
          <p:cNvSpPr/>
          <p:nvPr/>
        </p:nvSpPr>
        <p:spPr>
          <a:xfrm>
            <a:off x="1168400" y="6089726"/>
            <a:ext cx="4008120" cy="406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4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Declarative path-based URL routing facilitating fluid view transitions and deep link logic.</a:t>
            </a:r>
            <a:endParaRPr lang="en-US" sz="1300" dirty="0"/>
          </a:p>
        </p:txBody>
      </p:sp>
      <p:pic>
        <p:nvPicPr>
          <p:cNvPr id="24" name="featpaper-node:39:535" descr="Backend Car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1200" y="3098800"/>
            <a:ext cx="4673600" cy="5232400"/>
          </a:xfrm>
          <a:prstGeom prst="rect">
            <a:avLst/>
          </a:prstGeom>
        </p:spPr>
      </p:pic>
      <p:pic>
        <p:nvPicPr>
          <p:cNvPr id="25" name="featpaper-node:39:537" descr="Fram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46800" y="3460750"/>
            <a:ext cx="901700" cy="279400"/>
          </a:xfrm>
          <a:prstGeom prst="rect">
            <a:avLst/>
          </a:prstGeom>
        </p:spPr>
      </p:pic>
      <p:sp>
        <p:nvSpPr>
          <p:cNvPr id="26" name="featpaper-node:39:538"/>
          <p:cNvSpPr/>
          <p:nvPr/>
        </p:nvSpPr>
        <p:spPr>
          <a:xfrm>
            <a:off x="6248400" y="3506241"/>
            <a:ext cx="744220" cy="177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85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API LAYER</a:t>
            </a:r>
            <a:endParaRPr lang="en-US" sz="1100" dirty="0"/>
          </a:p>
        </p:txBody>
      </p:sp>
      <p:sp>
        <p:nvSpPr>
          <p:cNvPr id="27" name="featpaper-node:39:539"/>
          <p:cNvSpPr/>
          <p:nvPr/>
        </p:nvSpPr>
        <p:spPr>
          <a:xfrm>
            <a:off x="7150100" y="3458413"/>
            <a:ext cx="1734820" cy="2921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7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Backend Stack</a:t>
            </a:r>
            <a:endParaRPr lang="en-US" sz="1800" dirty="0"/>
          </a:p>
        </p:txBody>
      </p:sp>
      <p:sp>
        <p:nvSpPr>
          <p:cNvPr id="28" name="featpaper-node:39:542"/>
          <p:cNvSpPr/>
          <p:nvPr/>
        </p:nvSpPr>
        <p:spPr>
          <a:xfrm>
            <a:off x="6146800" y="4005961"/>
            <a:ext cx="2700020" cy="2413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• FastAPI Python Framework</a:t>
            </a:r>
            <a:endParaRPr lang="en-US" sz="1500" dirty="0"/>
          </a:p>
        </p:txBody>
      </p:sp>
      <p:sp>
        <p:nvSpPr>
          <p:cNvPr id="29" name="featpaper-node:39:543"/>
          <p:cNvSpPr/>
          <p:nvPr/>
        </p:nvSpPr>
        <p:spPr>
          <a:xfrm>
            <a:off x="6146800" y="4286326"/>
            <a:ext cx="4008120" cy="406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4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Asynchronous ASGI framework compiling Pydantic validators for instant automated doc generation.</a:t>
            </a:r>
            <a:endParaRPr lang="en-US" sz="1300" dirty="0"/>
          </a:p>
        </p:txBody>
      </p:sp>
      <p:sp>
        <p:nvSpPr>
          <p:cNvPr id="30" name="featpaper-node:39:545"/>
          <p:cNvSpPr/>
          <p:nvPr/>
        </p:nvSpPr>
        <p:spPr>
          <a:xfrm>
            <a:off x="6146800" y="4907661"/>
            <a:ext cx="2344420" cy="2413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• SQL Relational Schema</a:t>
            </a:r>
            <a:endParaRPr lang="en-US" sz="1500" dirty="0"/>
          </a:p>
        </p:txBody>
      </p:sp>
      <p:sp>
        <p:nvSpPr>
          <p:cNvPr id="31" name="featpaper-node:39:546"/>
          <p:cNvSpPr/>
          <p:nvPr/>
        </p:nvSpPr>
        <p:spPr>
          <a:xfrm>
            <a:off x="6146800" y="5188026"/>
            <a:ext cx="4008120" cy="609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4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Hosted MySQL database mapping robust relationships between users, bookings, and verified pros.</a:t>
            </a:r>
            <a:endParaRPr lang="en-US" sz="1300" dirty="0"/>
          </a:p>
        </p:txBody>
      </p:sp>
      <p:sp>
        <p:nvSpPr>
          <p:cNvPr id="32" name="featpaper-node:39:548"/>
          <p:cNvSpPr/>
          <p:nvPr/>
        </p:nvSpPr>
        <p:spPr>
          <a:xfrm>
            <a:off x="6146800" y="6012561"/>
            <a:ext cx="2382520" cy="2413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• JWT Capability Security</a:t>
            </a:r>
            <a:endParaRPr lang="en-US" sz="1500" dirty="0"/>
          </a:p>
        </p:txBody>
      </p:sp>
      <p:sp>
        <p:nvSpPr>
          <p:cNvPr id="33" name="featpaper-node:39:549"/>
          <p:cNvSpPr/>
          <p:nvPr/>
        </p:nvSpPr>
        <p:spPr>
          <a:xfrm>
            <a:off x="6146800" y="6292926"/>
            <a:ext cx="4008120" cy="406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4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Stateless HTTP Bearer authorization tokens handling authenticated REST endpoints safely.</a:t>
            </a:r>
            <a:endParaRPr lang="en-US" sz="1300" dirty="0"/>
          </a:p>
        </p:txBody>
      </p:sp>
      <p:pic>
        <p:nvPicPr>
          <p:cNvPr id="34" name="featpaper-node:39:550" descr="Infrastructure Car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69600" y="3098800"/>
            <a:ext cx="4673600" cy="5232400"/>
          </a:xfrm>
          <a:prstGeom prst="rect">
            <a:avLst/>
          </a:prstGeom>
        </p:spPr>
      </p:pic>
      <p:pic>
        <p:nvPicPr>
          <p:cNvPr id="35" name="featpaper-node:39:552" descr="Fram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3460750"/>
            <a:ext cx="635000" cy="279400"/>
          </a:xfrm>
          <a:prstGeom prst="rect">
            <a:avLst/>
          </a:prstGeom>
        </p:spPr>
      </p:pic>
      <p:sp>
        <p:nvSpPr>
          <p:cNvPr id="36" name="featpaper-node:39:553"/>
          <p:cNvSpPr/>
          <p:nvPr/>
        </p:nvSpPr>
        <p:spPr>
          <a:xfrm>
            <a:off x="11226800" y="3506241"/>
            <a:ext cx="477520" cy="177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85"/>
              </a:lnSpc>
              <a:buNone/>
            </a:pPr>
            <a:r>
              <a:rPr lang="en-US" sz="1100" dirty="0">
                <a:solidFill>
                  <a:srgbClr val="856404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INFRA</a:t>
            </a:r>
            <a:endParaRPr lang="en-US" sz="1100" dirty="0"/>
          </a:p>
        </p:txBody>
      </p:sp>
      <p:sp>
        <p:nvSpPr>
          <p:cNvPr id="37" name="featpaper-node:39:554"/>
          <p:cNvSpPr/>
          <p:nvPr/>
        </p:nvSpPr>
        <p:spPr>
          <a:xfrm>
            <a:off x="11861800" y="3458413"/>
            <a:ext cx="1607820" cy="2921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7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Infrastructure</a:t>
            </a:r>
            <a:endParaRPr lang="en-US" sz="1800" dirty="0"/>
          </a:p>
        </p:txBody>
      </p:sp>
      <p:sp>
        <p:nvSpPr>
          <p:cNvPr id="38" name="featpaper-node:39:557"/>
          <p:cNvSpPr/>
          <p:nvPr/>
        </p:nvSpPr>
        <p:spPr>
          <a:xfrm>
            <a:off x="11125200" y="4005961"/>
            <a:ext cx="2255520" cy="2413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• Mock OTP Verification</a:t>
            </a:r>
            <a:endParaRPr lang="en-US" sz="1500" dirty="0"/>
          </a:p>
        </p:txBody>
      </p:sp>
      <p:sp>
        <p:nvSpPr>
          <p:cNvPr id="39" name="featpaper-node:39:558"/>
          <p:cNvSpPr/>
          <p:nvPr/>
        </p:nvSpPr>
        <p:spPr>
          <a:xfrm>
            <a:off x="11125200" y="4286326"/>
            <a:ext cx="4008120" cy="406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4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Safe testing simulation bypassing SMS gateway costs with temporary administrative passcodes.</a:t>
            </a:r>
            <a:endParaRPr lang="en-US" sz="1300" dirty="0"/>
          </a:p>
        </p:txBody>
      </p:sp>
      <p:sp>
        <p:nvSpPr>
          <p:cNvPr id="40" name="featpaper-node:39:560"/>
          <p:cNvSpPr/>
          <p:nvPr/>
        </p:nvSpPr>
        <p:spPr>
          <a:xfrm>
            <a:off x="11125200" y="4907661"/>
            <a:ext cx="2179320" cy="2413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• 5s Polling Mechanism</a:t>
            </a:r>
            <a:endParaRPr lang="en-US" sz="1500" dirty="0"/>
          </a:p>
        </p:txBody>
      </p:sp>
      <p:sp>
        <p:nvSpPr>
          <p:cNvPr id="41" name="featpaper-node:39:561"/>
          <p:cNvSpPr/>
          <p:nvPr/>
        </p:nvSpPr>
        <p:spPr>
          <a:xfrm>
            <a:off x="11125200" y="5188026"/>
            <a:ext cx="4008120" cy="406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4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Reliable fallback loops mimicking socket handshakes for immediate booking updates.</a:t>
            </a:r>
            <a:endParaRPr lang="en-US" sz="1300" dirty="0"/>
          </a:p>
        </p:txBody>
      </p:sp>
      <p:sp>
        <p:nvSpPr>
          <p:cNvPr id="42" name="featpaper-node:39:563"/>
          <p:cNvSpPr/>
          <p:nvPr/>
        </p:nvSpPr>
        <p:spPr>
          <a:xfrm>
            <a:off x="11125200" y="5809361"/>
            <a:ext cx="2179320" cy="2413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• Secure Device Cache</a:t>
            </a:r>
            <a:endParaRPr lang="en-US" sz="1500" dirty="0"/>
          </a:p>
        </p:txBody>
      </p:sp>
      <p:sp>
        <p:nvSpPr>
          <p:cNvPr id="43" name="featpaper-node:39:564"/>
          <p:cNvSpPr/>
          <p:nvPr/>
        </p:nvSpPr>
        <p:spPr>
          <a:xfrm>
            <a:off x="11125200" y="6089726"/>
            <a:ext cx="4008120" cy="406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4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Encrypted keychains on device to safely persist auth tokens using Flutter Secure Storage.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eatpaper-node:66:20" descr="slide-auth-onboardi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3" name="featpaper-node:66:21" descr="Ellips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00" y="0"/>
            <a:ext cx="5080000" cy="5080000"/>
          </a:xfrm>
          <a:prstGeom prst="rect">
            <a:avLst/>
          </a:prstGeom>
        </p:spPr>
      </p:pic>
      <p:pic>
        <p:nvPicPr>
          <p:cNvPr id="4" name="featpaper-node:66:22" descr="Ellip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34000"/>
            <a:ext cx="3810000" cy="3810000"/>
          </a:xfrm>
          <a:prstGeom prst="rect">
            <a:avLst/>
          </a:prstGeom>
        </p:spPr>
      </p:pic>
      <p:pic>
        <p:nvPicPr>
          <p:cNvPr id="5" name="featpaper-node:66:24" descr="Hea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" y="812800"/>
            <a:ext cx="14630400" cy="711200"/>
          </a:xfrm>
          <a:prstGeom prst="rect">
            <a:avLst/>
          </a:prstGeom>
        </p:spPr>
      </p:pic>
      <p:pic>
        <p:nvPicPr>
          <p:cNvPr id="6" name="featpaper-node:66:26" descr="App Icon Wrappe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0" y="812800"/>
            <a:ext cx="406400" cy="406400"/>
          </a:xfrm>
          <a:prstGeom prst="rect">
            <a:avLst/>
          </a:prstGeom>
        </p:spPr>
      </p:pic>
      <p:pic>
        <p:nvPicPr>
          <p:cNvPr id="7" name="featpaper-node:66:28" descr="Vecto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100" y="918627"/>
            <a:ext cx="177800" cy="186271"/>
          </a:xfrm>
          <a:prstGeom prst="rect">
            <a:avLst/>
          </a:prstGeom>
        </p:spPr>
      </p:pic>
      <p:sp>
        <p:nvSpPr>
          <p:cNvPr id="8" name="featpaper-node:66:29"/>
          <p:cNvSpPr/>
          <p:nvPr/>
        </p:nvSpPr>
        <p:spPr>
          <a:xfrm>
            <a:off x="1371600" y="873963"/>
            <a:ext cx="1366520" cy="2921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70"/>
              </a:lnSpc>
              <a:buNone/>
            </a:pPr>
            <a:r>
              <a:rPr lang="en-US" sz="1800" dirty="0">
                <a:solidFill>
                  <a:srgbClr val="00647F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HomeServe</a:t>
            </a:r>
            <a:endParaRPr lang="en-US" sz="1800" dirty="0"/>
          </a:p>
        </p:txBody>
      </p:sp>
      <p:sp>
        <p:nvSpPr>
          <p:cNvPr id="9" name="featpaper-node:66:30"/>
          <p:cNvSpPr/>
          <p:nvPr/>
        </p:nvSpPr>
        <p:spPr>
          <a:xfrm>
            <a:off x="2844800" y="907644"/>
            <a:ext cx="1346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/</a:t>
            </a:r>
            <a:endParaRPr lang="en-US" sz="1400" dirty="0"/>
          </a:p>
        </p:txBody>
      </p:sp>
      <p:sp>
        <p:nvSpPr>
          <p:cNvPr id="10" name="featpaper-node:66:31"/>
          <p:cNvSpPr/>
          <p:nvPr/>
        </p:nvSpPr>
        <p:spPr>
          <a:xfrm>
            <a:off x="3086100" y="907644"/>
            <a:ext cx="15824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AUTHENTICATION</a:t>
            </a:r>
            <a:endParaRPr lang="en-US" sz="1400" dirty="0"/>
          </a:p>
        </p:txBody>
      </p:sp>
      <p:sp>
        <p:nvSpPr>
          <p:cNvPr id="11" name="featpaper-node:66:32"/>
          <p:cNvSpPr/>
          <p:nvPr/>
        </p:nvSpPr>
        <p:spPr>
          <a:xfrm>
            <a:off x="15240000" y="907644"/>
            <a:ext cx="2489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10</a:t>
            </a:r>
            <a:endParaRPr lang="en-US" sz="1400" dirty="0"/>
          </a:p>
        </p:txBody>
      </p:sp>
      <p:sp>
        <p:nvSpPr>
          <p:cNvPr id="12" name="featpaper-node:66:34"/>
          <p:cNvSpPr/>
          <p:nvPr/>
        </p:nvSpPr>
        <p:spPr>
          <a:xfrm>
            <a:off x="812800" y="1927657"/>
            <a:ext cx="14676120" cy="508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030"/>
              </a:lnSpc>
              <a:buNone/>
            </a:pPr>
            <a:r>
              <a:rPr lang="en-US" sz="3200" kern="0" spc="-80" dirty="0">
                <a:solidFill>
                  <a:srgbClr val="0F172A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Secure Authentication Flow</a:t>
            </a:r>
            <a:endParaRPr lang="en-US" sz="3200" dirty="0"/>
          </a:p>
        </p:txBody>
      </p:sp>
      <p:sp>
        <p:nvSpPr>
          <p:cNvPr id="13" name="featpaper-node:66:35"/>
          <p:cNvSpPr/>
          <p:nvPr/>
        </p:nvSpPr>
        <p:spPr>
          <a:xfrm>
            <a:off x="812800" y="2544978"/>
            <a:ext cx="1467612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15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Decoupled state management &amp; modern mobile security paradigms</a:t>
            </a:r>
            <a:endParaRPr lang="en-US" sz="1600" dirty="0"/>
          </a:p>
        </p:txBody>
      </p:sp>
      <p:pic>
        <p:nvPicPr>
          <p:cNvPr id="14" name="featpaper-node:66:37" descr="Architecture Car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0" y="3200400"/>
            <a:ext cx="7124700" cy="5130800"/>
          </a:xfrm>
          <a:prstGeom prst="rect">
            <a:avLst/>
          </a:prstGeom>
        </p:spPr>
      </p:pic>
      <p:sp>
        <p:nvSpPr>
          <p:cNvPr id="15" name="featpaper-node:66:38"/>
          <p:cNvSpPr/>
          <p:nvPr/>
        </p:nvSpPr>
        <p:spPr>
          <a:xfrm>
            <a:off x="1168400" y="3560013"/>
            <a:ext cx="6459220" cy="2921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70"/>
              </a:lnSpc>
              <a:buNone/>
            </a:pPr>
            <a:r>
              <a:rPr lang="en-US" sz="1800" dirty="0">
                <a:solidFill>
                  <a:srgbClr val="00647F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JWT-Capability Authorization Model</a:t>
            </a:r>
            <a:endParaRPr lang="en-US" sz="1800" dirty="0"/>
          </a:p>
        </p:txBody>
      </p:sp>
      <p:pic>
        <p:nvPicPr>
          <p:cNvPr id="16" name="featpaper-node:66:42" descr="Vecto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3812" y="4146550"/>
            <a:ext cx="177788" cy="135428"/>
          </a:xfrm>
          <a:prstGeom prst="rect">
            <a:avLst/>
          </a:prstGeom>
        </p:spPr>
      </p:pic>
      <p:sp>
        <p:nvSpPr>
          <p:cNvPr id="17" name="featpaper-node:66:44"/>
          <p:cNvSpPr/>
          <p:nvPr/>
        </p:nvSpPr>
        <p:spPr>
          <a:xfrm>
            <a:off x="1549400" y="4108044"/>
            <a:ext cx="60782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Phone Registration &amp; Profile Setup</a:t>
            </a:r>
            <a:endParaRPr lang="en-US" sz="1400" dirty="0"/>
          </a:p>
        </p:txBody>
      </p:sp>
      <p:sp>
        <p:nvSpPr>
          <p:cNvPr id="18" name="featpaper-node:66:45"/>
          <p:cNvSpPr/>
          <p:nvPr/>
        </p:nvSpPr>
        <p:spPr>
          <a:xfrm>
            <a:off x="1549400" y="4349826"/>
            <a:ext cx="6078220" cy="406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4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Enrolls basic user metadata with name, gender, and regional preference identifiers.</a:t>
            </a:r>
            <a:endParaRPr lang="en-US" sz="1300" dirty="0"/>
          </a:p>
        </p:txBody>
      </p:sp>
      <p:pic>
        <p:nvPicPr>
          <p:cNvPr id="19" name="featpaper-node:66:48" descr="Vecto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3812" y="4984750"/>
            <a:ext cx="177788" cy="135428"/>
          </a:xfrm>
          <a:prstGeom prst="rect">
            <a:avLst/>
          </a:prstGeom>
        </p:spPr>
      </p:pic>
      <p:sp>
        <p:nvSpPr>
          <p:cNvPr id="20" name="featpaper-node:66:50"/>
          <p:cNvSpPr/>
          <p:nvPr/>
        </p:nvSpPr>
        <p:spPr>
          <a:xfrm>
            <a:off x="1549400" y="4946244"/>
            <a:ext cx="60782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Mock OTP Verification</a:t>
            </a:r>
            <a:endParaRPr lang="en-US" sz="1400" dirty="0"/>
          </a:p>
        </p:txBody>
      </p:sp>
      <p:sp>
        <p:nvSpPr>
          <p:cNvPr id="21" name="featpaper-node:66:51"/>
          <p:cNvSpPr/>
          <p:nvPr/>
        </p:nvSpPr>
        <p:spPr>
          <a:xfrm>
            <a:off x="1549400" y="5188026"/>
            <a:ext cx="6078220" cy="406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4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Production-ready client handlers structured to transition seamlessly to real SMS verification gateways.</a:t>
            </a:r>
            <a:endParaRPr lang="en-US" sz="1300" dirty="0"/>
          </a:p>
        </p:txBody>
      </p:sp>
      <p:pic>
        <p:nvPicPr>
          <p:cNvPr id="22" name="featpaper-node:66:54" descr="Vecto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3812" y="5822950"/>
            <a:ext cx="177788" cy="135428"/>
          </a:xfrm>
          <a:prstGeom prst="rect">
            <a:avLst/>
          </a:prstGeom>
        </p:spPr>
      </p:pic>
      <p:sp>
        <p:nvSpPr>
          <p:cNvPr id="23" name="featpaper-node:66:56"/>
          <p:cNvSpPr/>
          <p:nvPr/>
        </p:nvSpPr>
        <p:spPr>
          <a:xfrm>
            <a:off x="1549400" y="5784444"/>
            <a:ext cx="60782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JWT Capability tokens</a:t>
            </a:r>
            <a:endParaRPr lang="en-US" sz="1400" dirty="0"/>
          </a:p>
        </p:txBody>
      </p:sp>
      <p:sp>
        <p:nvSpPr>
          <p:cNvPr id="24" name="featpaper-node:66:57"/>
          <p:cNvSpPr/>
          <p:nvPr/>
        </p:nvSpPr>
        <p:spPr>
          <a:xfrm>
            <a:off x="1549400" y="6026226"/>
            <a:ext cx="6078220" cy="406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4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Stateless session tags carrying distinct client, provider, and admin capability flags.</a:t>
            </a:r>
            <a:endParaRPr lang="en-US" sz="1300" dirty="0"/>
          </a:p>
        </p:txBody>
      </p:sp>
      <p:pic>
        <p:nvPicPr>
          <p:cNvPr id="25" name="featpaper-node:66:60" descr="Vecto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3812" y="6661150"/>
            <a:ext cx="177788" cy="135428"/>
          </a:xfrm>
          <a:prstGeom prst="rect">
            <a:avLst/>
          </a:prstGeom>
        </p:spPr>
      </p:pic>
      <p:sp>
        <p:nvSpPr>
          <p:cNvPr id="26" name="featpaper-node:66:62"/>
          <p:cNvSpPr/>
          <p:nvPr/>
        </p:nvSpPr>
        <p:spPr>
          <a:xfrm>
            <a:off x="1549400" y="6622643"/>
            <a:ext cx="60782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Secure Device Cache</a:t>
            </a:r>
            <a:endParaRPr lang="en-US" sz="1400" dirty="0"/>
          </a:p>
        </p:txBody>
      </p:sp>
      <p:sp>
        <p:nvSpPr>
          <p:cNvPr id="27" name="featpaper-node:66:63"/>
          <p:cNvSpPr/>
          <p:nvPr/>
        </p:nvSpPr>
        <p:spPr>
          <a:xfrm>
            <a:off x="1549400" y="6864426"/>
            <a:ext cx="6078220" cy="406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4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Tokens are persisted locally using platform-specific Flutter Secure Storage implementations.</a:t>
            </a:r>
            <a:endParaRPr lang="en-US" sz="1300" dirty="0"/>
          </a:p>
        </p:txBody>
      </p:sp>
      <p:pic>
        <p:nvPicPr>
          <p:cNvPr id="28" name="featpaper-node:66:64" descr="Mockups Colum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43900" y="3200400"/>
            <a:ext cx="7099300" cy="5130800"/>
          </a:xfrm>
          <a:prstGeom prst="rect">
            <a:avLst/>
          </a:prstGeom>
        </p:spPr>
      </p:pic>
      <p:sp>
        <p:nvSpPr>
          <p:cNvPr id="29" name="featpaper-node:66:65"/>
          <p:cNvSpPr/>
          <p:nvPr/>
        </p:nvSpPr>
        <p:spPr>
          <a:xfrm>
            <a:off x="8699500" y="3560013"/>
            <a:ext cx="6433820" cy="2921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70"/>
              </a:lnSpc>
              <a:buNone/>
            </a:pPr>
            <a:r>
              <a:rPr lang="en-US" sz="1800" dirty="0">
                <a:solidFill>
                  <a:srgbClr val="00647F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Onboarding UI Showcase</a:t>
            </a:r>
            <a:endParaRPr lang="en-US" sz="1800" dirty="0"/>
          </a:p>
        </p:txBody>
      </p:sp>
      <p:pic>
        <p:nvPicPr>
          <p:cNvPr id="30" name="featpaper-node:66:68" descr="Phone Wrapper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77250" y="4083050"/>
            <a:ext cx="2438400" cy="3530600"/>
          </a:xfrm>
          <a:prstGeom prst="rect">
            <a:avLst/>
          </a:prstGeom>
        </p:spPr>
      </p:pic>
      <p:pic>
        <p:nvPicPr>
          <p:cNvPr id="31" name="featpaper-node:66:69" descr="Rectangl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80450" y="4184650"/>
            <a:ext cx="1930400" cy="3022600"/>
          </a:xfrm>
          <a:prstGeom prst="rect">
            <a:avLst/>
          </a:prstGeom>
        </p:spPr>
      </p:pic>
      <p:sp>
        <p:nvSpPr>
          <p:cNvPr id="32" name="featpaper-node:66:71"/>
          <p:cNvSpPr/>
          <p:nvPr/>
        </p:nvSpPr>
        <p:spPr>
          <a:xfrm>
            <a:off x="8699500" y="7467194"/>
            <a:ext cx="20396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65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Registration</a:t>
            </a:r>
            <a:endParaRPr lang="en-US" sz="1400" dirty="0"/>
          </a:p>
        </p:txBody>
      </p:sp>
      <p:sp>
        <p:nvSpPr>
          <p:cNvPr id="33" name="featpaper-node:66:72"/>
          <p:cNvSpPr/>
          <p:nvPr/>
        </p:nvSpPr>
        <p:spPr>
          <a:xfrm>
            <a:off x="8699500" y="7709941"/>
            <a:ext cx="2039620" cy="177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85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Basic data collection</a:t>
            </a:r>
            <a:endParaRPr lang="en-US" sz="1100" dirty="0"/>
          </a:p>
        </p:txBody>
      </p:sp>
      <p:pic>
        <p:nvPicPr>
          <p:cNvPr id="34" name="featpaper-node:66:74" descr="Phone Wrapper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74350" y="4083050"/>
            <a:ext cx="2438400" cy="3530600"/>
          </a:xfrm>
          <a:prstGeom prst="rect">
            <a:avLst/>
          </a:prstGeom>
        </p:spPr>
      </p:pic>
      <p:pic>
        <p:nvPicPr>
          <p:cNvPr id="35" name="featpaper-node:66:75" descr="Rectangl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77550" y="4184650"/>
            <a:ext cx="1930400" cy="3022600"/>
          </a:xfrm>
          <a:prstGeom prst="rect">
            <a:avLst/>
          </a:prstGeom>
        </p:spPr>
      </p:pic>
      <p:sp>
        <p:nvSpPr>
          <p:cNvPr id="36" name="featpaper-node:66:77"/>
          <p:cNvSpPr/>
          <p:nvPr/>
        </p:nvSpPr>
        <p:spPr>
          <a:xfrm>
            <a:off x="10896600" y="7467193"/>
            <a:ext cx="20396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65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OTP Verification</a:t>
            </a:r>
            <a:endParaRPr lang="en-US" sz="1400" dirty="0"/>
          </a:p>
        </p:txBody>
      </p:sp>
      <p:sp>
        <p:nvSpPr>
          <p:cNvPr id="37" name="featpaper-node:66:78"/>
          <p:cNvSpPr/>
          <p:nvPr/>
        </p:nvSpPr>
        <p:spPr>
          <a:xfrm>
            <a:off x="10896600" y="7709941"/>
            <a:ext cx="2039620" cy="177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85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6-digit temporary override</a:t>
            </a:r>
            <a:endParaRPr lang="en-US" sz="1100" dirty="0"/>
          </a:p>
        </p:txBody>
      </p:sp>
      <p:pic>
        <p:nvPicPr>
          <p:cNvPr id="38" name="featpaper-node:66:80" descr="Phone Wrapper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871450" y="4083050"/>
            <a:ext cx="2438400" cy="3530600"/>
          </a:xfrm>
          <a:prstGeom prst="rect">
            <a:avLst/>
          </a:prstGeom>
        </p:spPr>
      </p:pic>
      <p:pic>
        <p:nvPicPr>
          <p:cNvPr id="39" name="featpaper-node:66:81" descr="Rectangl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074650" y="4184650"/>
            <a:ext cx="1930400" cy="3022600"/>
          </a:xfrm>
          <a:prstGeom prst="rect">
            <a:avLst/>
          </a:prstGeom>
        </p:spPr>
      </p:pic>
      <p:sp>
        <p:nvSpPr>
          <p:cNvPr id="40" name="featpaper-node:66:83"/>
          <p:cNvSpPr/>
          <p:nvPr/>
        </p:nvSpPr>
        <p:spPr>
          <a:xfrm>
            <a:off x="13093700" y="7467194"/>
            <a:ext cx="20396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65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Login</a:t>
            </a:r>
            <a:endParaRPr lang="en-US" sz="1400" dirty="0"/>
          </a:p>
        </p:txBody>
      </p:sp>
      <p:sp>
        <p:nvSpPr>
          <p:cNvPr id="41" name="featpaper-node:66:84"/>
          <p:cNvSpPr/>
          <p:nvPr/>
        </p:nvSpPr>
        <p:spPr>
          <a:xfrm>
            <a:off x="13093700" y="7709941"/>
            <a:ext cx="2039620" cy="177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85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Secure credentials access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eatpaper-node:66:86" descr="slide-profile-managemen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3" name="featpaper-node:66:87" descr="Ellips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00" y="0"/>
            <a:ext cx="5080000" cy="5080000"/>
          </a:xfrm>
          <a:prstGeom prst="rect">
            <a:avLst/>
          </a:prstGeom>
        </p:spPr>
      </p:pic>
      <p:pic>
        <p:nvPicPr>
          <p:cNvPr id="4" name="featpaper-node:66:88" descr="Ellip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34000"/>
            <a:ext cx="3810000" cy="3810000"/>
          </a:xfrm>
          <a:prstGeom prst="rect">
            <a:avLst/>
          </a:prstGeom>
        </p:spPr>
      </p:pic>
      <p:pic>
        <p:nvPicPr>
          <p:cNvPr id="5" name="featpaper-node:66:90" descr="Hea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" y="812800"/>
            <a:ext cx="14630400" cy="711200"/>
          </a:xfrm>
          <a:prstGeom prst="rect">
            <a:avLst/>
          </a:prstGeom>
        </p:spPr>
      </p:pic>
      <p:pic>
        <p:nvPicPr>
          <p:cNvPr id="6" name="featpaper-node:66:92" descr="App Icon Wrappe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0" y="812800"/>
            <a:ext cx="406400" cy="406400"/>
          </a:xfrm>
          <a:prstGeom prst="rect">
            <a:avLst/>
          </a:prstGeom>
        </p:spPr>
      </p:pic>
      <p:pic>
        <p:nvPicPr>
          <p:cNvPr id="7" name="featpaper-node:66:94" descr="Vecto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100" y="918627"/>
            <a:ext cx="177800" cy="186271"/>
          </a:xfrm>
          <a:prstGeom prst="rect">
            <a:avLst/>
          </a:prstGeom>
        </p:spPr>
      </p:pic>
      <p:sp>
        <p:nvSpPr>
          <p:cNvPr id="8" name="featpaper-node:66:95"/>
          <p:cNvSpPr/>
          <p:nvPr/>
        </p:nvSpPr>
        <p:spPr>
          <a:xfrm>
            <a:off x="1371600" y="873963"/>
            <a:ext cx="1366520" cy="2921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70"/>
              </a:lnSpc>
              <a:buNone/>
            </a:pPr>
            <a:r>
              <a:rPr lang="en-US" sz="1800" dirty="0">
                <a:solidFill>
                  <a:srgbClr val="00647F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HomeServe</a:t>
            </a:r>
            <a:endParaRPr lang="en-US" sz="1800" dirty="0"/>
          </a:p>
        </p:txBody>
      </p:sp>
      <p:sp>
        <p:nvSpPr>
          <p:cNvPr id="9" name="featpaper-node:66:96"/>
          <p:cNvSpPr/>
          <p:nvPr/>
        </p:nvSpPr>
        <p:spPr>
          <a:xfrm>
            <a:off x="2844800" y="907644"/>
            <a:ext cx="1346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/</a:t>
            </a:r>
            <a:endParaRPr lang="en-US" sz="1400" dirty="0"/>
          </a:p>
        </p:txBody>
      </p:sp>
      <p:sp>
        <p:nvSpPr>
          <p:cNvPr id="10" name="featpaper-node:66:97"/>
          <p:cNvSpPr/>
          <p:nvPr/>
        </p:nvSpPr>
        <p:spPr>
          <a:xfrm>
            <a:off x="3086100" y="907644"/>
            <a:ext cx="16332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USER EXPERIENCE</a:t>
            </a:r>
            <a:endParaRPr lang="en-US" sz="1400" dirty="0"/>
          </a:p>
        </p:txBody>
      </p:sp>
      <p:sp>
        <p:nvSpPr>
          <p:cNvPr id="11" name="featpaper-node:66:98"/>
          <p:cNvSpPr/>
          <p:nvPr/>
        </p:nvSpPr>
        <p:spPr>
          <a:xfrm>
            <a:off x="15303500" y="907644"/>
            <a:ext cx="1854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11</a:t>
            </a:r>
            <a:endParaRPr lang="en-US" sz="1400" dirty="0"/>
          </a:p>
        </p:txBody>
      </p:sp>
      <p:sp>
        <p:nvSpPr>
          <p:cNvPr id="12" name="featpaper-node:66:100"/>
          <p:cNvSpPr/>
          <p:nvPr/>
        </p:nvSpPr>
        <p:spPr>
          <a:xfrm>
            <a:off x="812800" y="1927657"/>
            <a:ext cx="14676120" cy="508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030"/>
              </a:lnSpc>
              <a:buNone/>
            </a:pPr>
            <a:r>
              <a:rPr lang="en-US" sz="3200" kern="0" spc="-80" dirty="0">
                <a:solidFill>
                  <a:srgbClr val="0F172A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Profile &amp; Account Management</a:t>
            </a:r>
            <a:endParaRPr lang="en-US" sz="3200" dirty="0"/>
          </a:p>
        </p:txBody>
      </p:sp>
      <p:sp>
        <p:nvSpPr>
          <p:cNvPr id="13" name="featpaper-node:66:101"/>
          <p:cNvSpPr/>
          <p:nvPr/>
        </p:nvSpPr>
        <p:spPr>
          <a:xfrm>
            <a:off x="812800" y="2544978"/>
            <a:ext cx="1467612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15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Intuitive control centers for both clients and specialized providers</a:t>
            </a:r>
            <a:endParaRPr lang="en-US" sz="1600" dirty="0"/>
          </a:p>
        </p:txBody>
      </p:sp>
      <p:pic>
        <p:nvPicPr>
          <p:cNvPr id="14" name="featpaper-node:66:103" descr="Grid Car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0" y="3200400"/>
            <a:ext cx="3467100" cy="5130800"/>
          </a:xfrm>
          <a:prstGeom prst="rect">
            <a:avLst/>
          </a:prstGeom>
        </p:spPr>
      </p:pic>
      <p:pic>
        <p:nvPicPr>
          <p:cNvPr id="15" name="featpaper-node:66:104" descr="Mock Wrappe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57350" y="3403600"/>
            <a:ext cx="1778000" cy="2540000"/>
          </a:xfrm>
          <a:prstGeom prst="rect">
            <a:avLst/>
          </a:prstGeom>
        </p:spPr>
      </p:pic>
      <p:pic>
        <p:nvPicPr>
          <p:cNvPr id="16" name="featpaper-node:66:105" descr="Rectangl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57350" y="3403600"/>
            <a:ext cx="1727200" cy="2489200"/>
          </a:xfrm>
          <a:prstGeom prst="rect">
            <a:avLst/>
          </a:prstGeom>
        </p:spPr>
      </p:pic>
      <p:sp>
        <p:nvSpPr>
          <p:cNvPr id="17" name="featpaper-node:66:106"/>
          <p:cNvSpPr/>
          <p:nvPr/>
        </p:nvSpPr>
        <p:spPr>
          <a:xfrm>
            <a:off x="2082800" y="6101461"/>
            <a:ext cx="972820" cy="2413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My Profile</a:t>
            </a:r>
            <a:endParaRPr lang="en-US" sz="1500" dirty="0"/>
          </a:p>
        </p:txBody>
      </p:sp>
      <p:sp>
        <p:nvSpPr>
          <p:cNvPr id="18" name="featpaper-node:66:107"/>
          <p:cNvSpPr/>
          <p:nvPr/>
        </p:nvSpPr>
        <p:spPr>
          <a:xfrm>
            <a:off x="1016000" y="6483909"/>
            <a:ext cx="310642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Unified client directory, saved addresses, and comprehensive transaction receipts.</a:t>
            </a:r>
            <a:endParaRPr lang="en-US" sz="1200" dirty="0"/>
          </a:p>
        </p:txBody>
      </p:sp>
      <p:pic>
        <p:nvPicPr>
          <p:cNvPr id="19" name="featpaper-node:66:108" descr="Grid Car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3900" y="3200400"/>
            <a:ext cx="3467100" cy="5130800"/>
          </a:xfrm>
          <a:prstGeom prst="rect">
            <a:avLst/>
          </a:prstGeom>
        </p:spPr>
      </p:pic>
      <p:pic>
        <p:nvPicPr>
          <p:cNvPr id="20" name="featpaper-node:66:109" descr="Mock Wrappe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78450" y="3403600"/>
            <a:ext cx="1778000" cy="2540000"/>
          </a:xfrm>
          <a:prstGeom prst="rect">
            <a:avLst/>
          </a:prstGeom>
        </p:spPr>
      </p:pic>
      <p:pic>
        <p:nvPicPr>
          <p:cNvPr id="21" name="featpaper-node:66:110" descr="Rectangl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78450" y="3403600"/>
            <a:ext cx="1727200" cy="2489200"/>
          </a:xfrm>
          <a:prstGeom prst="rect">
            <a:avLst/>
          </a:prstGeom>
        </p:spPr>
      </p:pic>
      <p:sp>
        <p:nvSpPr>
          <p:cNvPr id="22" name="featpaper-node:66:111"/>
          <p:cNvSpPr/>
          <p:nvPr/>
        </p:nvSpPr>
        <p:spPr>
          <a:xfrm>
            <a:off x="5765800" y="6101461"/>
            <a:ext cx="1049020" cy="2413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Edit Profile</a:t>
            </a:r>
            <a:endParaRPr lang="en-US" sz="1500" dirty="0"/>
          </a:p>
        </p:txBody>
      </p:sp>
      <p:sp>
        <p:nvSpPr>
          <p:cNvPr id="23" name="featpaper-node:66:112"/>
          <p:cNvSpPr/>
          <p:nvPr/>
        </p:nvSpPr>
        <p:spPr>
          <a:xfrm>
            <a:off x="4737100" y="6483909"/>
            <a:ext cx="310642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Update operational details, credentials, and modify account security metrics.</a:t>
            </a:r>
            <a:endParaRPr lang="en-US" sz="1200" dirty="0"/>
          </a:p>
        </p:txBody>
      </p:sp>
      <p:pic>
        <p:nvPicPr>
          <p:cNvPr id="24" name="featpaper-node:66:113" descr="Grid Car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5000" y="3200400"/>
            <a:ext cx="3467100" cy="5130800"/>
          </a:xfrm>
          <a:prstGeom prst="rect">
            <a:avLst/>
          </a:prstGeom>
        </p:spPr>
      </p:pic>
      <p:pic>
        <p:nvPicPr>
          <p:cNvPr id="25" name="featpaper-node:66:114" descr="Mock Wrappe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99550" y="3403600"/>
            <a:ext cx="1778000" cy="2540000"/>
          </a:xfrm>
          <a:prstGeom prst="rect">
            <a:avLst/>
          </a:prstGeom>
        </p:spPr>
      </p:pic>
      <p:pic>
        <p:nvPicPr>
          <p:cNvPr id="26" name="featpaper-node:66:115" descr="Rectangl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99550" y="3403600"/>
            <a:ext cx="1727200" cy="2489200"/>
          </a:xfrm>
          <a:prstGeom prst="rect">
            <a:avLst/>
          </a:prstGeom>
        </p:spPr>
      </p:pic>
      <p:sp>
        <p:nvSpPr>
          <p:cNvPr id="27" name="featpaper-node:66:116"/>
          <p:cNvSpPr/>
          <p:nvPr/>
        </p:nvSpPr>
        <p:spPr>
          <a:xfrm>
            <a:off x="9296400" y="6101461"/>
            <a:ext cx="1430020" cy="2413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Provider Setup</a:t>
            </a:r>
            <a:endParaRPr lang="en-US" sz="1500" dirty="0"/>
          </a:p>
        </p:txBody>
      </p:sp>
      <p:sp>
        <p:nvSpPr>
          <p:cNvPr id="28" name="featpaper-node:66:117"/>
          <p:cNvSpPr/>
          <p:nvPr/>
        </p:nvSpPr>
        <p:spPr>
          <a:xfrm>
            <a:off x="8458200" y="6483909"/>
            <a:ext cx="310642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Define work skills, upload certifications, and build a beautiful portfolio view.</a:t>
            </a:r>
            <a:endParaRPr lang="en-US" sz="1200" dirty="0"/>
          </a:p>
        </p:txBody>
      </p:sp>
      <p:pic>
        <p:nvPicPr>
          <p:cNvPr id="29" name="featpaper-node:66:118" descr="Grid Car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76100" y="3200400"/>
            <a:ext cx="3467100" cy="5130800"/>
          </a:xfrm>
          <a:prstGeom prst="rect">
            <a:avLst/>
          </a:prstGeom>
        </p:spPr>
      </p:pic>
      <p:pic>
        <p:nvPicPr>
          <p:cNvPr id="30" name="featpaper-node:66:119" descr="Mock Wrappe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20650" y="3403600"/>
            <a:ext cx="1778000" cy="2540000"/>
          </a:xfrm>
          <a:prstGeom prst="rect">
            <a:avLst/>
          </a:prstGeom>
        </p:spPr>
      </p:pic>
      <p:pic>
        <p:nvPicPr>
          <p:cNvPr id="31" name="featpaper-node:66:120" descr="Rectangl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820650" y="3403600"/>
            <a:ext cx="1727200" cy="2489200"/>
          </a:xfrm>
          <a:prstGeom prst="rect">
            <a:avLst/>
          </a:prstGeom>
        </p:spPr>
      </p:pic>
      <p:sp>
        <p:nvSpPr>
          <p:cNvPr id="32" name="featpaper-node:66:121"/>
          <p:cNvSpPr/>
          <p:nvPr/>
        </p:nvSpPr>
        <p:spPr>
          <a:xfrm>
            <a:off x="13017500" y="6101461"/>
            <a:ext cx="1430020" cy="2413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Log Out Dialog</a:t>
            </a:r>
            <a:endParaRPr lang="en-US" sz="1500" dirty="0"/>
          </a:p>
        </p:txBody>
      </p:sp>
      <p:sp>
        <p:nvSpPr>
          <p:cNvPr id="33" name="featpaper-node:66:122"/>
          <p:cNvSpPr/>
          <p:nvPr/>
        </p:nvSpPr>
        <p:spPr>
          <a:xfrm>
            <a:off x="12179300" y="6483909"/>
            <a:ext cx="310642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Securely clear cached session tokens upon explicit user session end actions.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eatpaper-node:66:124" descr="slide-sprint-timelin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3" name="featpaper-node:66:125" descr="Ellips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00" y="0"/>
            <a:ext cx="5080000" cy="5080000"/>
          </a:xfrm>
          <a:prstGeom prst="rect">
            <a:avLst/>
          </a:prstGeom>
        </p:spPr>
      </p:pic>
      <p:pic>
        <p:nvPicPr>
          <p:cNvPr id="4" name="featpaper-node:66:126" descr="Ellip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34000"/>
            <a:ext cx="3810000" cy="3810000"/>
          </a:xfrm>
          <a:prstGeom prst="rect">
            <a:avLst/>
          </a:prstGeom>
        </p:spPr>
      </p:pic>
      <p:pic>
        <p:nvPicPr>
          <p:cNvPr id="5" name="featpaper-node:66:128" descr="Hea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" y="812800"/>
            <a:ext cx="14630400" cy="711200"/>
          </a:xfrm>
          <a:prstGeom prst="rect">
            <a:avLst/>
          </a:prstGeom>
        </p:spPr>
      </p:pic>
      <p:pic>
        <p:nvPicPr>
          <p:cNvPr id="6" name="featpaper-node:66:130" descr="App Icon Wrappe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0" y="812800"/>
            <a:ext cx="406400" cy="406400"/>
          </a:xfrm>
          <a:prstGeom prst="rect">
            <a:avLst/>
          </a:prstGeom>
        </p:spPr>
      </p:pic>
      <p:pic>
        <p:nvPicPr>
          <p:cNvPr id="7" name="featpaper-node:66:132" descr="Vecto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100" y="918627"/>
            <a:ext cx="177800" cy="186271"/>
          </a:xfrm>
          <a:prstGeom prst="rect">
            <a:avLst/>
          </a:prstGeom>
        </p:spPr>
      </p:pic>
      <p:sp>
        <p:nvSpPr>
          <p:cNvPr id="8" name="featpaper-node:66:133"/>
          <p:cNvSpPr/>
          <p:nvPr/>
        </p:nvSpPr>
        <p:spPr>
          <a:xfrm>
            <a:off x="1371600" y="873963"/>
            <a:ext cx="1366520" cy="2921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70"/>
              </a:lnSpc>
              <a:buNone/>
            </a:pPr>
            <a:r>
              <a:rPr lang="en-US" sz="1800" dirty="0">
                <a:solidFill>
                  <a:srgbClr val="00647F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HomeServe</a:t>
            </a:r>
            <a:endParaRPr lang="en-US" sz="1800" dirty="0"/>
          </a:p>
        </p:txBody>
      </p:sp>
      <p:sp>
        <p:nvSpPr>
          <p:cNvPr id="9" name="featpaper-node:66:134"/>
          <p:cNvSpPr/>
          <p:nvPr/>
        </p:nvSpPr>
        <p:spPr>
          <a:xfrm>
            <a:off x="2844800" y="907644"/>
            <a:ext cx="1346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/</a:t>
            </a:r>
            <a:endParaRPr lang="en-US" sz="1400" dirty="0"/>
          </a:p>
        </p:txBody>
      </p:sp>
      <p:sp>
        <p:nvSpPr>
          <p:cNvPr id="10" name="featpaper-node:66:135"/>
          <p:cNvSpPr/>
          <p:nvPr/>
        </p:nvSpPr>
        <p:spPr>
          <a:xfrm>
            <a:off x="3086100" y="907644"/>
            <a:ext cx="10744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EXECUTION</a:t>
            </a:r>
            <a:endParaRPr lang="en-US" sz="1400" dirty="0"/>
          </a:p>
        </p:txBody>
      </p:sp>
      <p:sp>
        <p:nvSpPr>
          <p:cNvPr id="11" name="featpaper-node:66:136"/>
          <p:cNvSpPr/>
          <p:nvPr/>
        </p:nvSpPr>
        <p:spPr>
          <a:xfrm>
            <a:off x="15265400" y="907644"/>
            <a:ext cx="2235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12</a:t>
            </a:r>
            <a:endParaRPr lang="en-US" sz="1400" dirty="0"/>
          </a:p>
        </p:txBody>
      </p:sp>
      <p:sp>
        <p:nvSpPr>
          <p:cNvPr id="12" name="featpaper-node:66:138"/>
          <p:cNvSpPr/>
          <p:nvPr/>
        </p:nvSpPr>
        <p:spPr>
          <a:xfrm>
            <a:off x="812800" y="1927657"/>
            <a:ext cx="14676120" cy="508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030"/>
              </a:lnSpc>
              <a:buNone/>
            </a:pPr>
            <a:r>
              <a:rPr lang="en-US" sz="3200" kern="0" spc="-80" dirty="0">
                <a:solidFill>
                  <a:srgbClr val="0F172A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5-Day Sprint Breakdown</a:t>
            </a:r>
            <a:endParaRPr lang="en-US" sz="3200" dirty="0"/>
          </a:p>
        </p:txBody>
      </p:sp>
      <p:sp>
        <p:nvSpPr>
          <p:cNvPr id="13" name="featpaper-node:66:139"/>
          <p:cNvSpPr/>
          <p:nvPr/>
        </p:nvSpPr>
        <p:spPr>
          <a:xfrm>
            <a:off x="812800" y="2544978"/>
            <a:ext cx="1467612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15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Accelerated MVP development roadmap with granular daily milestones</a:t>
            </a:r>
            <a:endParaRPr lang="en-US" sz="1600" dirty="0"/>
          </a:p>
        </p:txBody>
      </p:sp>
      <p:pic>
        <p:nvPicPr>
          <p:cNvPr id="14" name="featpaper-node:66:141" descr="Timeline Day Car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0" y="3200400"/>
            <a:ext cx="2763520" cy="5130800"/>
          </a:xfrm>
          <a:prstGeom prst="rect">
            <a:avLst/>
          </a:prstGeom>
        </p:spPr>
      </p:pic>
      <p:sp>
        <p:nvSpPr>
          <p:cNvPr id="15" name="featpaper-node:66:143"/>
          <p:cNvSpPr/>
          <p:nvPr/>
        </p:nvSpPr>
        <p:spPr>
          <a:xfrm>
            <a:off x="1016000" y="3398291"/>
            <a:ext cx="414020" cy="177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85"/>
              </a:lnSpc>
              <a:buNone/>
            </a:pPr>
            <a:r>
              <a:rPr lang="en-US" sz="1100" dirty="0">
                <a:solidFill>
                  <a:srgbClr val="1B8FB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DAY 1</a:t>
            </a:r>
            <a:endParaRPr lang="en-US" sz="1100" dirty="0"/>
          </a:p>
        </p:txBody>
      </p:sp>
      <p:sp>
        <p:nvSpPr>
          <p:cNvPr id="16" name="featpaper-node:66:144"/>
          <p:cNvSpPr/>
          <p:nvPr/>
        </p:nvSpPr>
        <p:spPr>
          <a:xfrm>
            <a:off x="1016000" y="3637178"/>
            <a:ext cx="118872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15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Foundation</a:t>
            </a:r>
            <a:endParaRPr lang="en-US" sz="1600" dirty="0"/>
          </a:p>
        </p:txBody>
      </p:sp>
      <p:pic>
        <p:nvPicPr>
          <p:cNvPr id="17" name="featpaper-node:66:145" descr="Lin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6000" y="4051300"/>
            <a:ext cx="2357115" cy="12700"/>
          </a:xfrm>
          <a:prstGeom prst="rect">
            <a:avLst/>
          </a:prstGeom>
        </p:spPr>
      </p:pic>
      <p:pic>
        <p:nvPicPr>
          <p:cNvPr id="18" name="featpaper-node:66:147" descr="TaskItem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6000" y="4241800"/>
            <a:ext cx="2357120" cy="622300"/>
          </a:xfrm>
          <a:prstGeom prst="rect">
            <a:avLst/>
          </a:prstGeom>
        </p:spPr>
      </p:pic>
      <p:sp>
        <p:nvSpPr>
          <p:cNvPr id="19" name="featpaper-node:66:148"/>
          <p:cNvSpPr/>
          <p:nvPr/>
        </p:nvSpPr>
        <p:spPr>
          <a:xfrm>
            <a:off x="1117600" y="4337609"/>
            <a:ext cx="896620" cy="190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1200" dirty="0">
                <a:solidFill>
                  <a:srgbClr val="00647F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ER Diagram</a:t>
            </a:r>
            <a:endParaRPr lang="en-US" sz="1200" dirty="0"/>
          </a:p>
        </p:txBody>
      </p:sp>
      <p:sp>
        <p:nvSpPr>
          <p:cNvPr id="20" name="featpaper-node:66:149"/>
          <p:cNvSpPr/>
          <p:nvPr/>
        </p:nvSpPr>
        <p:spPr>
          <a:xfrm>
            <a:off x="1117600" y="4579391"/>
            <a:ext cx="2199640" cy="177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85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Database schema definition</a:t>
            </a:r>
            <a:endParaRPr lang="en-US" sz="1100" dirty="0"/>
          </a:p>
        </p:txBody>
      </p:sp>
      <p:pic>
        <p:nvPicPr>
          <p:cNvPr id="21" name="featpaper-node:66:150" descr="TaskItem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6000" y="4991100"/>
            <a:ext cx="2357120" cy="622300"/>
          </a:xfrm>
          <a:prstGeom prst="rect">
            <a:avLst/>
          </a:prstGeom>
        </p:spPr>
      </p:pic>
      <p:sp>
        <p:nvSpPr>
          <p:cNvPr id="22" name="featpaper-node:66:151"/>
          <p:cNvSpPr/>
          <p:nvPr/>
        </p:nvSpPr>
        <p:spPr>
          <a:xfrm>
            <a:off x="1117600" y="5086909"/>
            <a:ext cx="1150620" cy="190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1200" dirty="0">
                <a:solidFill>
                  <a:srgbClr val="00647F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UX Wireframes</a:t>
            </a:r>
            <a:endParaRPr lang="en-US" sz="1200" dirty="0"/>
          </a:p>
        </p:txBody>
      </p:sp>
      <p:sp>
        <p:nvSpPr>
          <p:cNvPr id="23" name="featpaper-node:66:152"/>
          <p:cNvSpPr/>
          <p:nvPr/>
        </p:nvSpPr>
        <p:spPr>
          <a:xfrm>
            <a:off x="1117600" y="5328691"/>
            <a:ext cx="2199640" cy="177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85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Screen flows finalized</a:t>
            </a:r>
            <a:endParaRPr lang="en-US" sz="1100" dirty="0"/>
          </a:p>
        </p:txBody>
      </p:sp>
      <p:pic>
        <p:nvPicPr>
          <p:cNvPr id="24" name="featpaper-node:66:153" descr="TaskItem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6000" y="5740400"/>
            <a:ext cx="2357120" cy="622300"/>
          </a:xfrm>
          <a:prstGeom prst="rect">
            <a:avLst/>
          </a:prstGeom>
        </p:spPr>
      </p:pic>
      <p:sp>
        <p:nvSpPr>
          <p:cNvPr id="25" name="featpaper-node:66:154"/>
          <p:cNvSpPr/>
          <p:nvPr/>
        </p:nvSpPr>
        <p:spPr>
          <a:xfrm>
            <a:off x="1117600" y="5836209"/>
            <a:ext cx="998220" cy="190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1200" dirty="0">
                <a:solidFill>
                  <a:srgbClr val="00647F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API Contract</a:t>
            </a:r>
            <a:endParaRPr lang="en-US" sz="1200" dirty="0"/>
          </a:p>
        </p:txBody>
      </p:sp>
      <p:sp>
        <p:nvSpPr>
          <p:cNvPr id="26" name="featpaper-node:66:155"/>
          <p:cNvSpPr/>
          <p:nvPr/>
        </p:nvSpPr>
        <p:spPr>
          <a:xfrm>
            <a:off x="1117600" y="6077991"/>
            <a:ext cx="2199640" cy="177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85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FastAPI REST schemas</a:t>
            </a:r>
            <a:endParaRPr lang="en-US" sz="1100" dirty="0"/>
          </a:p>
        </p:txBody>
      </p:sp>
      <p:pic>
        <p:nvPicPr>
          <p:cNvPr id="27" name="featpaper-node:66:156" descr="Timeline Day Car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9515" y="3200400"/>
            <a:ext cx="2763520" cy="5130800"/>
          </a:xfrm>
          <a:prstGeom prst="rect">
            <a:avLst/>
          </a:prstGeom>
        </p:spPr>
      </p:pic>
      <p:sp>
        <p:nvSpPr>
          <p:cNvPr id="28" name="featpaper-node:66:158"/>
          <p:cNvSpPr/>
          <p:nvPr/>
        </p:nvSpPr>
        <p:spPr>
          <a:xfrm>
            <a:off x="3982715" y="3398291"/>
            <a:ext cx="452120" cy="177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85"/>
              </a:lnSpc>
              <a:buNone/>
            </a:pPr>
            <a:r>
              <a:rPr lang="en-US" sz="1100" dirty="0">
                <a:solidFill>
                  <a:srgbClr val="1B8FB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DAY 2</a:t>
            </a:r>
            <a:endParaRPr lang="en-US" sz="1100" dirty="0"/>
          </a:p>
        </p:txBody>
      </p:sp>
      <p:sp>
        <p:nvSpPr>
          <p:cNvPr id="29" name="featpaper-node:66:159"/>
          <p:cNvSpPr/>
          <p:nvPr/>
        </p:nvSpPr>
        <p:spPr>
          <a:xfrm>
            <a:off x="3982715" y="3637178"/>
            <a:ext cx="92202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15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Auth E2E</a:t>
            </a:r>
            <a:endParaRPr lang="en-US" sz="1600" dirty="0"/>
          </a:p>
        </p:txBody>
      </p:sp>
      <p:pic>
        <p:nvPicPr>
          <p:cNvPr id="30" name="featpaper-node:66:160" descr="Lin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82715" y="4051300"/>
            <a:ext cx="2357115" cy="12700"/>
          </a:xfrm>
          <a:prstGeom prst="rect">
            <a:avLst/>
          </a:prstGeom>
        </p:spPr>
      </p:pic>
      <p:pic>
        <p:nvPicPr>
          <p:cNvPr id="31" name="featpaper-node:66:162" descr="TaskItem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82715" y="4241800"/>
            <a:ext cx="2357120" cy="622300"/>
          </a:xfrm>
          <a:prstGeom prst="rect">
            <a:avLst/>
          </a:prstGeom>
        </p:spPr>
      </p:pic>
      <p:sp>
        <p:nvSpPr>
          <p:cNvPr id="32" name="featpaper-node:66:163"/>
          <p:cNvSpPr/>
          <p:nvPr/>
        </p:nvSpPr>
        <p:spPr>
          <a:xfrm>
            <a:off x="4084315" y="4337609"/>
            <a:ext cx="642620" cy="190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1200" dirty="0">
                <a:solidFill>
                  <a:srgbClr val="00647F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OTP API</a:t>
            </a:r>
            <a:endParaRPr lang="en-US" sz="1200" dirty="0"/>
          </a:p>
        </p:txBody>
      </p:sp>
      <p:sp>
        <p:nvSpPr>
          <p:cNvPr id="33" name="featpaper-node:66:164"/>
          <p:cNvSpPr/>
          <p:nvPr/>
        </p:nvSpPr>
        <p:spPr>
          <a:xfrm>
            <a:off x="4084315" y="4579391"/>
            <a:ext cx="2199640" cy="177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85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FastAPI verification route</a:t>
            </a:r>
            <a:endParaRPr lang="en-US" sz="1100" dirty="0"/>
          </a:p>
        </p:txBody>
      </p:sp>
      <p:pic>
        <p:nvPicPr>
          <p:cNvPr id="34" name="featpaper-node:66:165" descr="TaskItem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82715" y="4991100"/>
            <a:ext cx="2357120" cy="622300"/>
          </a:xfrm>
          <a:prstGeom prst="rect">
            <a:avLst/>
          </a:prstGeom>
        </p:spPr>
      </p:pic>
      <p:sp>
        <p:nvSpPr>
          <p:cNvPr id="35" name="featpaper-node:66:166"/>
          <p:cNvSpPr/>
          <p:nvPr/>
        </p:nvSpPr>
        <p:spPr>
          <a:xfrm>
            <a:off x="4084315" y="5086909"/>
            <a:ext cx="883920" cy="190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1200" dirty="0">
                <a:solidFill>
                  <a:srgbClr val="00647F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Final Figma</a:t>
            </a:r>
            <a:endParaRPr lang="en-US" sz="1200" dirty="0"/>
          </a:p>
        </p:txBody>
      </p:sp>
      <p:sp>
        <p:nvSpPr>
          <p:cNvPr id="36" name="featpaper-node:66:167"/>
          <p:cNvSpPr/>
          <p:nvPr/>
        </p:nvSpPr>
        <p:spPr>
          <a:xfrm>
            <a:off x="4084315" y="5328691"/>
            <a:ext cx="2199640" cy="177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85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Complete component system</a:t>
            </a:r>
            <a:endParaRPr lang="en-US" sz="1100" dirty="0"/>
          </a:p>
        </p:txBody>
      </p:sp>
      <p:pic>
        <p:nvPicPr>
          <p:cNvPr id="37" name="featpaper-node:66:168" descr="TaskItem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82715" y="5740400"/>
            <a:ext cx="2357120" cy="622300"/>
          </a:xfrm>
          <a:prstGeom prst="rect">
            <a:avLst/>
          </a:prstGeom>
        </p:spPr>
      </p:pic>
      <p:sp>
        <p:nvSpPr>
          <p:cNvPr id="38" name="featpaper-node:66:169"/>
          <p:cNvSpPr/>
          <p:nvPr/>
        </p:nvSpPr>
        <p:spPr>
          <a:xfrm>
            <a:off x="4084315" y="5836209"/>
            <a:ext cx="1036320" cy="190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1200" dirty="0">
                <a:solidFill>
                  <a:srgbClr val="00647F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Auth Screens</a:t>
            </a:r>
            <a:endParaRPr lang="en-US" sz="1200" dirty="0"/>
          </a:p>
        </p:txBody>
      </p:sp>
      <p:sp>
        <p:nvSpPr>
          <p:cNvPr id="39" name="featpaper-node:66:170"/>
          <p:cNvSpPr/>
          <p:nvPr/>
        </p:nvSpPr>
        <p:spPr>
          <a:xfrm>
            <a:off x="4084315" y="6077991"/>
            <a:ext cx="2199640" cy="177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85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Flutter UI login setup</a:t>
            </a:r>
            <a:endParaRPr lang="en-US" sz="1100" dirty="0"/>
          </a:p>
        </p:txBody>
      </p:sp>
      <p:pic>
        <p:nvPicPr>
          <p:cNvPr id="40" name="featpaper-node:66:171" descr="Timeline Day Car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6230" y="3200400"/>
            <a:ext cx="2763520" cy="5130800"/>
          </a:xfrm>
          <a:prstGeom prst="rect">
            <a:avLst/>
          </a:prstGeom>
        </p:spPr>
      </p:pic>
      <p:sp>
        <p:nvSpPr>
          <p:cNvPr id="41" name="featpaper-node:66:173"/>
          <p:cNvSpPr/>
          <p:nvPr/>
        </p:nvSpPr>
        <p:spPr>
          <a:xfrm>
            <a:off x="6949430" y="3398291"/>
            <a:ext cx="452120" cy="177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85"/>
              </a:lnSpc>
              <a:buNone/>
            </a:pPr>
            <a:r>
              <a:rPr lang="en-US" sz="1100" dirty="0">
                <a:solidFill>
                  <a:srgbClr val="1B8FB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DAY 3</a:t>
            </a:r>
            <a:endParaRPr lang="en-US" sz="1100" dirty="0"/>
          </a:p>
        </p:txBody>
      </p:sp>
      <p:sp>
        <p:nvSpPr>
          <p:cNvPr id="42" name="featpaper-node:66:174"/>
          <p:cNvSpPr/>
          <p:nvPr/>
        </p:nvSpPr>
        <p:spPr>
          <a:xfrm>
            <a:off x="6949430" y="3637178"/>
            <a:ext cx="140462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15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Core Booking</a:t>
            </a:r>
            <a:endParaRPr lang="en-US" sz="1600" dirty="0"/>
          </a:p>
        </p:txBody>
      </p:sp>
      <p:pic>
        <p:nvPicPr>
          <p:cNvPr id="43" name="featpaper-node:66:175" descr="Lin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9430" y="4051300"/>
            <a:ext cx="2357115" cy="12700"/>
          </a:xfrm>
          <a:prstGeom prst="rect">
            <a:avLst/>
          </a:prstGeom>
        </p:spPr>
      </p:pic>
      <p:pic>
        <p:nvPicPr>
          <p:cNvPr id="44" name="featpaper-node:66:177" descr="TaskItem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9430" y="4241800"/>
            <a:ext cx="2357120" cy="622300"/>
          </a:xfrm>
          <a:prstGeom prst="rect">
            <a:avLst/>
          </a:prstGeom>
        </p:spPr>
      </p:pic>
      <p:sp>
        <p:nvSpPr>
          <p:cNvPr id="45" name="featpaper-node:66:178"/>
          <p:cNvSpPr/>
          <p:nvPr/>
        </p:nvSpPr>
        <p:spPr>
          <a:xfrm>
            <a:off x="7051030" y="4337609"/>
            <a:ext cx="1049020" cy="190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1200" dirty="0">
                <a:solidFill>
                  <a:srgbClr val="00647F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Provider Lists</a:t>
            </a:r>
            <a:endParaRPr lang="en-US" sz="1200" dirty="0"/>
          </a:p>
        </p:txBody>
      </p:sp>
      <p:sp>
        <p:nvSpPr>
          <p:cNvPr id="46" name="featpaper-node:66:179"/>
          <p:cNvSpPr/>
          <p:nvPr/>
        </p:nvSpPr>
        <p:spPr>
          <a:xfrm>
            <a:off x="7051030" y="4579391"/>
            <a:ext cx="2199640" cy="177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85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Specialist fetching routing</a:t>
            </a:r>
            <a:endParaRPr lang="en-US" sz="1100" dirty="0"/>
          </a:p>
        </p:txBody>
      </p:sp>
      <p:pic>
        <p:nvPicPr>
          <p:cNvPr id="47" name="featpaper-node:66:180" descr="TaskItem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9430" y="4991100"/>
            <a:ext cx="2357120" cy="622300"/>
          </a:xfrm>
          <a:prstGeom prst="rect">
            <a:avLst/>
          </a:prstGeom>
        </p:spPr>
      </p:pic>
      <p:sp>
        <p:nvSpPr>
          <p:cNvPr id="48" name="featpaper-node:66:181"/>
          <p:cNvSpPr/>
          <p:nvPr/>
        </p:nvSpPr>
        <p:spPr>
          <a:xfrm>
            <a:off x="7051030" y="5086909"/>
            <a:ext cx="795020" cy="190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1200" dirty="0">
                <a:solidFill>
                  <a:srgbClr val="00647F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Browse UI</a:t>
            </a:r>
            <a:endParaRPr lang="en-US" sz="1200" dirty="0"/>
          </a:p>
        </p:txBody>
      </p:sp>
      <p:sp>
        <p:nvSpPr>
          <p:cNvPr id="49" name="featpaper-node:66:182"/>
          <p:cNvSpPr/>
          <p:nvPr/>
        </p:nvSpPr>
        <p:spPr>
          <a:xfrm>
            <a:off x="7051030" y="5328691"/>
            <a:ext cx="2199640" cy="177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85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Active filter chips row</a:t>
            </a:r>
            <a:endParaRPr lang="en-US" sz="1100" dirty="0"/>
          </a:p>
        </p:txBody>
      </p:sp>
      <p:pic>
        <p:nvPicPr>
          <p:cNvPr id="50" name="featpaper-node:66:183" descr="TaskItem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9430" y="5740400"/>
            <a:ext cx="2357120" cy="622300"/>
          </a:xfrm>
          <a:prstGeom prst="rect">
            <a:avLst/>
          </a:prstGeom>
        </p:spPr>
      </p:pic>
      <p:sp>
        <p:nvSpPr>
          <p:cNvPr id="51" name="featpaper-node:66:184"/>
          <p:cNvSpPr/>
          <p:nvPr/>
        </p:nvSpPr>
        <p:spPr>
          <a:xfrm>
            <a:off x="7051030" y="5836209"/>
            <a:ext cx="1061720" cy="190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1200" dirty="0">
                <a:solidFill>
                  <a:srgbClr val="00647F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Booking Flow</a:t>
            </a:r>
            <a:endParaRPr lang="en-US" sz="1200" dirty="0"/>
          </a:p>
        </p:txBody>
      </p:sp>
      <p:sp>
        <p:nvSpPr>
          <p:cNvPr id="52" name="featpaper-node:66:185"/>
          <p:cNvSpPr/>
          <p:nvPr/>
        </p:nvSpPr>
        <p:spPr>
          <a:xfrm>
            <a:off x="7051030" y="6077991"/>
            <a:ext cx="2199640" cy="177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85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Interactive schedulers</a:t>
            </a:r>
            <a:endParaRPr lang="en-US" sz="1100" dirty="0"/>
          </a:p>
        </p:txBody>
      </p:sp>
      <p:pic>
        <p:nvPicPr>
          <p:cNvPr id="53" name="featpaper-node:66:186" descr="Timeline Day Car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2970" y="3200400"/>
            <a:ext cx="2763520" cy="5130800"/>
          </a:xfrm>
          <a:prstGeom prst="rect">
            <a:avLst/>
          </a:prstGeom>
        </p:spPr>
      </p:pic>
      <p:sp>
        <p:nvSpPr>
          <p:cNvPr id="54" name="featpaper-node:66:188"/>
          <p:cNvSpPr/>
          <p:nvPr/>
        </p:nvSpPr>
        <p:spPr>
          <a:xfrm>
            <a:off x="9916170" y="3398291"/>
            <a:ext cx="452120" cy="177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85"/>
              </a:lnSpc>
              <a:buNone/>
            </a:pPr>
            <a:r>
              <a:rPr lang="en-US" sz="1100" dirty="0">
                <a:solidFill>
                  <a:srgbClr val="1B8FB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DAY 4</a:t>
            </a:r>
            <a:endParaRPr lang="en-US" sz="1100" dirty="0"/>
          </a:p>
        </p:txBody>
      </p:sp>
      <p:sp>
        <p:nvSpPr>
          <p:cNvPr id="55" name="featpaper-node:66:189"/>
          <p:cNvSpPr/>
          <p:nvPr/>
        </p:nvSpPr>
        <p:spPr>
          <a:xfrm>
            <a:off x="9916170" y="3637178"/>
            <a:ext cx="143002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15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Admin &amp; Feed</a:t>
            </a:r>
            <a:endParaRPr lang="en-US" sz="1600" dirty="0"/>
          </a:p>
        </p:txBody>
      </p:sp>
      <p:pic>
        <p:nvPicPr>
          <p:cNvPr id="56" name="featpaper-node:66:190" descr="Lin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16170" y="4051300"/>
            <a:ext cx="2357115" cy="12700"/>
          </a:xfrm>
          <a:prstGeom prst="rect">
            <a:avLst/>
          </a:prstGeom>
        </p:spPr>
      </p:pic>
      <p:pic>
        <p:nvPicPr>
          <p:cNvPr id="57" name="featpaper-node:66:192" descr="TaskItem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16170" y="4241800"/>
            <a:ext cx="2357120" cy="622300"/>
          </a:xfrm>
          <a:prstGeom prst="rect">
            <a:avLst/>
          </a:prstGeom>
        </p:spPr>
      </p:pic>
      <p:sp>
        <p:nvSpPr>
          <p:cNvPr id="58" name="featpaper-node:66:193"/>
          <p:cNvSpPr/>
          <p:nvPr/>
        </p:nvSpPr>
        <p:spPr>
          <a:xfrm>
            <a:off x="10017770" y="4337609"/>
            <a:ext cx="1201420" cy="190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1200" dirty="0">
                <a:solidFill>
                  <a:srgbClr val="00647F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Ratings System</a:t>
            </a:r>
            <a:endParaRPr lang="en-US" sz="1200" dirty="0"/>
          </a:p>
        </p:txBody>
      </p:sp>
      <p:sp>
        <p:nvSpPr>
          <p:cNvPr id="59" name="featpaper-node:66:194"/>
          <p:cNvSpPr/>
          <p:nvPr/>
        </p:nvSpPr>
        <p:spPr>
          <a:xfrm>
            <a:off x="10017770" y="4579391"/>
            <a:ext cx="2199640" cy="177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85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Service feedback accumulation</a:t>
            </a:r>
            <a:endParaRPr lang="en-US" sz="1100" dirty="0"/>
          </a:p>
        </p:txBody>
      </p:sp>
      <p:pic>
        <p:nvPicPr>
          <p:cNvPr id="60" name="featpaper-node:66:195" descr="TaskItem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16170" y="4991100"/>
            <a:ext cx="2357120" cy="622300"/>
          </a:xfrm>
          <a:prstGeom prst="rect">
            <a:avLst/>
          </a:prstGeom>
        </p:spPr>
      </p:pic>
      <p:sp>
        <p:nvSpPr>
          <p:cNvPr id="61" name="featpaper-node:66:196"/>
          <p:cNvSpPr/>
          <p:nvPr/>
        </p:nvSpPr>
        <p:spPr>
          <a:xfrm>
            <a:off x="10017770" y="5086909"/>
            <a:ext cx="998220" cy="190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1200" dirty="0">
                <a:solidFill>
                  <a:srgbClr val="00647F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Admin Portal</a:t>
            </a:r>
            <a:endParaRPr lang="en-US" sz="1200" dirty="0"/>
          </a:p>
        </p:txBody>
      </p:sp>
      <p:sp>
        <p:nvSpPr>
          <p:cNvPr id="62" name="featpaper-node:66:197"/>
          <p:cNvSpPr/>
          <p:nvPr/>
        </p:nvSpPr>
        <p:spPr>
          <a:xfrm>
            <a:off x="10017770" y="5328691"/>
            <a:ext cx="2199640" cy="177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85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Provider review dashboards</a:t>
            </a:r>
            <a:endParaRPr lang="en-US" sz="1100" dirty="0"/>
          </a:p>
        </p:txBody>
      </p:sp>
      <p:pic>
        <p:nvPicPr>
          <p:cNvPr id="63" name="featpaper-node:66:198" descr="TaskItem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16170" y="5740400"/>
            <a:ext cx="2357120" cy="622300"/>
          </a:xfrm>
          <a:prstGeom prst="rect">
            <a:avLst/>
          </a:prstGeom>
        </p:spPr>
      </p:pic>
      <p:sp>
        <p:nvSpPr>
          <p:cNvPr id="64" name="featpaper-node:66:199"/>
          <p:cNvSpPr/>
          <p:nvPr/>
        </p:nvSpPr>
        <p:spPr>
          <a:xfrm>
            <a:off x="10017770" y="5836209"/>
            <a:ext cx="985520" cy="190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1200" dirty="0">
                <a:solidFill>
                  <a:srgbClr val="00647F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State Polling</a:t>
            </a:r>
            <a:endParaRPr lang="en-US" sz="1200" dirty="0"/>
          </a:p>
        </p:txBody>
      </p:sp>
      <p:sp>
        <p:nvSpPr>
          <p:cNvPr id="65" name="featpaper-node:66:200"/>
          <p:cNvSpPr/>
          <p:nvPr/>
        </p:nvSpPr>
        <p:spPr>
          <a:xfrm>
            <a:off x="10017770" y="6077991"/>
            <a:ext cx="2199640" cy="177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85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5s client fetch fallback</a:t>
            </a:r>
            <a:endParaRPr lang="en-US" sz="1100" dirty="0"/>
          </a:p>
        </p:txBody>
      </p:sp>
      <p:pic>
        <p:nvPicPr>
          <p:cNvPr id="66" name="featpaper-node:66:201" descr="Timeline Day Car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79685" y="3200400"/>
            <a:ext cx="2763520" cy="5130800"/>
          </a:xfrm>
          <a:prstGeom prst="rect">
            <a:avLst/>
          </a:prstGeom>
        </p:spPr>
      </p:pic>
      <p:sp>
        <p:nvSpPr>
          <p:cNvPr id="67" name="featpaper-node:66:203"/>
          <p:cNvSpPr/>
          <p:nvPr/>
        </p:nvSpPr>
        <p:spPr>
          <a:xfrm>
            <a:off x="12882885" y="3398291"/>
            <a:ext cx="452120" cy="177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85"/>
              </a:lnSpc>
              <a:buNone/>
            </a:pPr>
            <a:r>
              <a:rPr lang="en-US" sz="1100" dirty="0">
                <a:solidFill>
                  <a:srgbClr val="1B8FB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DAY 5</a:t>
            </a:r>
            <a:endParaRPr lang="en-US" sz="1100" dirty="0"/>
          </a:p>
        </p:txBody>
      </p:sp>
      <p:sp>
        <p:nvSpPr>
          <p:cNvPr id="68" name="featpaper-node:66:204"/>
          <p:cNvSpPr/>
          <p:nvPr/>
        </p:nvSpPr>
        <p:spPr>
          <a:xfrm>
            <a:off x="12882885" y="3637178"/>
            <a:ext cx="76962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15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Launch</a:t>
            </a:r>
            <a:endParaRPr lang="en-US" sz="1600" dirty="0"/>
          </a:p>
        </p:txBody>
      </p:sp>
      <p:pic>
        <p:nvPicPr>
          <p:cNvPr id="69" name="featpaper-node:66:205" descr="Lin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82885" y="4051300"/>
            <a:ext cx="2357115" cy="12700"/>
          </a:xfrm>
          <a:prstGeom prst="rect">
            <a:avLst/>
          </a:prstGeom>
        </p:spPr>
      </p:pic>
      <p:pic>
        <p:nvPicPr>
          <p:cNvPr id="70" name="featpaper-node:66:207" descr="TaskItem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882885" y="4241800"/>
            <a:ext cx="2357120" cy="622300"/>
          </a:xfrm>
          <a:prstGeom prst="rect">
            <a:avLst/>
          </a:prstGeom>
        </p:spPr>
      </p:pic>
      <p:sp>
        <p:nvSpPr>
          <p:cNvPr id="71" name="featpaper-node:66:208"/>
          <p:cNvSpPr/>
          <p:nvPr/>
        </p:nvSpPr>
        <p:spPr>
          <a:xfrm>
            <a:off x="12984485" y="4337609"/>
            <a:ext cx="731520" cy="190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1200" dirty="0">
                <a:solidFill>
                  <a:srgbClr val="00647F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E2E Tests</a:t>
            </a:r>
            <a:endParaRPr lang="en-US" sz="1200" dirty="0"/>
          </a:p>
        </p:txBody>
      </p:sp>
      <p:sp>
        <p:nvSpPr>
          <p:cNvPr id="72" name="featpaper-node:66:209"/>
          <p:cNvSpPr/>
          <p:nvPr/>
        </p:nvSpPr>
        <p:spPr>
          <a:xfrm>
            <a:off x="12984485" y="4579391"/>
            <a:ext cx="2199640" cy="177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85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Full flow synchronization</a:t>
            </a:r>
            <a:endParaRPr lang="en-US" sz="1100" dirty="0"/>
          </a:p>
        </p:txBody>
      </p:sp>
      <p:pic>
        <p:nvPicPr>
          <p:cNvPr id="73" name="featpaper-node:66:210" descr="TaskItem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882885" y="4991100"/>
            <a:ext cx="2357120" cy="622300"/>
          </a:xfrm>
          <a:prstGeom prst="rect">
            <a:avLst/>
          </a:prstGeom>
        </p:spPr>
      </p:pic>
      <p:sp>
        <p:nvSpPr>
          <p:cNvPr id="74" name="featpaper-node:66:211"/>
          <p:cNvSpPr/>
          <p:nvPr/>
        </p:nvSpPr>
        <p:spPr>
          <a:xfrm>
            <a:off x="12984485" y="5086909"/>
            <a:ext cx="947420" cy="190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1200" dirty="0">
                <a:solidFill>
                  <a:srgbClr val="00647F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Flutter Build</a:t>
            </a:r>
            <a:endParaRPr lang="en-US" sz="1200" dirty="0"/>
          </a:p>
        </p:txBody>
      </p:sp>
      <p:sp>
        <p:nvSpPr>
          <p:cNvPr id="75" name="featpaper-node:66:212"/>
          <p:cNvSpPr/>
          <p:nvPr/>
        </p:nvSpPr>
        <p:spPr>
          <a:xfrm>
            <a:off x="12984485" y="5328691"/>
            <a:ext cx="2199640" cy="177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85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Deployable Android client</a:t>
            </a:r>
            <a:endParaRPr lang="en-US" sz="1100" dirty="0"/>
          </a:p>
        </p:txBody>
      </p:sp>
      <p:pic>
        <p:nvPicPr>
          <p:cNvPr id="76" name="featpaper-node:66:213" descr="TaskItem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882885" y="5740400"/>
            <a:ext cx="2357120" cy="622300"/>
          </a:xfrm>
          <a:prstGeom prst="rect">
            <a:avLst/>
          </a:prstGeom>
        </p:spPr>
      </p:pic>
      <p:sp>
        <p:nvSpPr>
          <p:cNvPr id="77" name="featpaper-node:66:214"/>
          <p:cNvSpPr/>
          <p:nvPr/>
        </p:nvSpPr>
        <p:spPr>
          <a:xfrm>
            <a:off x="12984485" y="5836209"/>
            <a:ext cx="972820" cy="190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1200" dirty="0">
                <a:solidFill>
                  <a:srgbClr val="00647F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Release v0.1</a:t>
            </a:r>
            <a:endParaRPr lang="en-US" sz="1200" dirty="0"/>
          </a:p>
        </p:txBody>
      </p:sp>
      <p:sp>
        <p:nvSpPr>
          <p:cNvPr id="78" name="featpaper-node:66:215"/>
          <p:cNvSpPr/>
          <p:nvPr/>
        </p:nvSpPr>
        <p:spPr>
          <a:xfrm>
            <a:off x="12984485" y="6077991"/>
            <a:ext cx="2199640" cy="177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85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MVP live demonstration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eatpaper-node:66:217" descr="slide-achievement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3" name="featpaper-node:66:218" descr="Ellips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00" y="0"/>
            <a:ext cx="5080000" cy="5080000"/>
          </a:xfrm>
          <a:prstGeom prst="rect">
            <a:avLst/>
          </a:prstGeom>
        </p:spPr>
      </p:pic>
      <p:pic>
        <p:nvPicPr>
          <p:cNvPr id="4" name="featpaper-node:66:219" descr="Ellip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34000"/>
            <a:ext cx="3810000" cy="3810000"/>
          </a:xfrm>
          <a:prstGeom prst="rect">
            <a:avLst/>
          </a:prstGeom>
        </p:spPr>
      </p:pic>
      <p:pic>
        <p:nvPicPr>
          <p:cNvPr id="5" name="featpaper-node:66:221" descr="Hea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" y="812800"/>
            <a:ext cx="14630400" cy="711200"/>
          </a:xfrm>
          <a:prstGeom prst="rect">
            <a:avLst/>
          </a:prstGeom>
        </p:spPr>
      </p:pic>
      <p:pic>
        <p:nvPicPr>
          <p:cNvPr id="6" name="featpaper-node:66:223" descr="App Icon Wrappe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0" y="812800"/>
            <a:ext cx="406400" cy="406400"/>
          </a:xfrm>
          <a:prstGeom prst="rect">
            <a:avLst/>
          </a:prstGeom>
        </p:spPr>
      </p:pic>
      <p:pic>
        <p:nvPicPr>
          <p:cNvPr id="7" name="featpaper-node:66:225" descr="Vecto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100" y="918627"/>
            <a:ext cx="177800" cy="186271"/>
          </a:xfrm>
          <a:prstGeom prst="rect">
            <a:avLst/>
          </a:prstGeom>
        </p:spPr>
      </p:pic>
      <p:sp>
        <p:nvSpPr>
          <p:cNvPr id="8" name="featpaper-node:66:226"/>
          <p:cNvSpPr/>
          <p:nvPr/>
        </p:nvSpPr>
        <p:spPr>
          <a:xfrm>
            <a:off x="1371600" y="873963"/>
            <a:ext cx="1366520" cy="2921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70"/>
              </a:lnSpc>
              <a:buNone/>
            </a:pPr>
            <a:r>
              <a:rPr lang="en-US" sz="1800" dirty="0">
                <a:solidFill>
                  <a:srgbClr val="00647F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HomeServe</a:t>
            </a:r>
            <a:endParaRPr lang="en-US" sz="1800" dirty="0"/>
          </a:p>
        </p:txBody>
      </p:sp>
      <p:sp>
        <p:nvSpPr>
          <p:cNvPr id="9" name="featpaper-node:66:227"/>
          <p:cNvSpPr/>
          <p:nvPr/>
        </p:nvSpPr>
        <p:spPr>
          <a:xfrm>
            <a:off x="2844800" y="907644"/>
            <a:ext cx="1346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/</a:t>
            </a:r>
            <a:endParaRPr lang="en-US" sz="1400" dirty="0"/>
          </a:p>
        </p:txBody>
      </p:sp>
      <p:sp>
        <p:nvSpPr>
          <p:cNvPr id="10" name="featpaper-node:66:228"/>
          <p:cNvSpPr/>
          <p:nvPr/>
        </p:nvSpPr>
        <p:spPr>
          <a:xfrm>
            <a:off x="3086100" y="907644"/>
            <a:ext cx="20777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SPRINT ACHIEVEMENTS</a:t>
            </a:r>
            <a:endParaRPr lang="en-US" sz="1400" dirty="0"/>
          </a:p>
        </p:txBody>
      </p:sp>
      <p:sp>
        <p:nvSpPr>
          <p:cNvPr id="11" name="featpaper-node:66:229"/>
          <p:cNvSpPr/>
          <p:nvPr/>
        </p:nvSpPr>
        <p:spPr>
          <a:xfrm>
            <a:off x="15252700" y="907644"/>
            <a:ext cx="2362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13</a:t>
            </a:r>
            <a:endParaRPr lang="en-US" sz="1400" dirty="0"/>
          </a:p>
        </p:txBody>
      </p:sp>
      <p:sp>
        <p:nvSpPr>
          <p:cNvPr id="12" name="featpaper-node:66:231"/>
          <p:cNvSpPr/>
          <p:nvPr/>
        </p:nvSpPr>
        <p:spPr>
          <a:xfrm>
            <a:off x="812800" y="1927657"/>
            <a:ext cx="14676120" cy="508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030"/>
              </a:lnSpc>
              <a:buNone/>
            </a:pPr>
            <a:r>
              <a:rPr lang="en-US" sz="3200" kern="0" spc="-80" dirty="0">
                <a:solidFill>
                  <a:srgbClr val="0F172A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Key Metrics &amp; Team Success</a:t>
            </a:r>
            <a:endParaRPr lang="en-US" sz="3200" dirty="0"/>
          </a:p>
        </p:txBody>
      </p:sp>
      <p:sp>
        <p:nvSpPr>
          <p:cNvPr id="13" name="featpaper-node:66:232"/>
          <p:cNvSpPr/>
          <p:nvPr/>
        </p:nvSpPr>
        <p:spPr>
          <a:xfrm>
            <a:off x="812800" y="2544978"/>
            <a:ext cx="1467612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15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Velocity and deliverables of the initial 5-day MVP sprint</a:t>
            </a:r>
            <a:endParaRPr lang="en-US" sz="1600" dirty="0"/>
          </a:p>
        </p:txBody>
      </p:sp>
      <p:pic>
        <p:nvPicPr>
          <p:cNvPr id="14" name="featpaper-node:66:235" descr="Metric Car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0" y="3200400"/>
            <a:ext cx="4673600" cy="1765300"/>
          </a:xfrm>
          <a:prstGeom prst="rect">
            <a:avLst/>
          </a:prstGeom>
        </p:spPr>
      </p:pic>
      <p:sp>
        <p:nvSpPr>
          <p:cNvPr id="15" name="featpaper-node:66:236"/>
          <p:cNvSpPr/>
          <p:nvPr/>
        </p:nvSpPr>
        <p:spPr>
          <a:xfrm>
            <a:off x="1066800" y="3447796"/>
            <a:ext cx="680720" cy="635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000" dirty="0">
                <a:solidFill>
                  <a:srgbClr val="00647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24</a:t>
            </a:r>
            <a:endParaRPr lang="en-US" sz="4000" dirty="0"/>
          </a:p>
        </p:txBody>
      </p:sp>
      <p:sp>
        <p:nvSpPr>
          <p:cNvPr id="16" name="featpaper-node:66:237"/>
          <p:cNvSpPr/>
          <p:nvPr/>
        </p:nvSpPr>
        <p:spPr>
          <a:xfrm>
            <a:off x="1066800" y="4196944"/>
            <a:ext cx="16205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Screens Designed</a:t>
            </a:r>
            <a:endParaRPr lang="en-US" sz="1400" dirty="0"/>
          </a:p>
        </p:txBody>
      </p:sp>
      <p:sp>
        <p:nvSpPr>
          <p:cNvPr id="17" name="featpaper-node:66:238"/>
          <p:cNvSpPr/>
          <p:nvPr/>
        </p:nvSpPr>
        <p:spPr>
          <a:xfrm>
            <a:off x="1066800" y="4515409"/>
            <a:ext cx="4211320" cy="190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High-fidelity Figma prototypes mapped E2E.</a:t>
            </a:r>
            <a:endParaRPr lang="en-US" sz="1200" dirty="0"/>
          </a:p>
        </p:txBody>
      </p:sp>
      <p:pic>
        <p:nvPicPr>
          <p:cNvPr id="18" name="featpaper-node:66:239" descr="Metric Car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1200" y="3200400"/>
            <a:ext cx="4673600" cy="1765300"/>
          </a:xfrm>
          <a:prstGeom prst="rect">
            <a:avLst/>
          </a:prstGeom>
        </p:spPr>
      </p:pic>
      <p:sp>
        <p:nvSpPr>
          <p:cNvPr id="19" name="featpaper-node:66:240"/>
          <p:cNvSpPr/>
          <p:nvPr/>
        </p:nvSpPr>
        <p:spPr>
          <a:xfrm>
            <a:off x="6045200" y="3447796"/>
            <a:ext cx="922020" cy="635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000" dirty="0">
                <a:solidFill>
                  <a:srgbClr val="00647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15+</a:t>
            </a:r>
            <a:endParaRPr lang="en-US" sz="4000" dirty="0"/>
          </a:p>
        </p:txBody>
      </p:sp>
      <p:sp>
        <p:nvSpPr>
          <p:cNvPr id="20" name="featpaper-node:66:241"/>
          <p:cNvSpPr/>
          <p:nvPr/>
        </p:nvSpPr>
        <p:spPr>
          <a:xfrm>
            <a:off x="6045200" y="4196944"/>
            <a:ext cx="12522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API Endpoints</a:t>
            </a:r>
            <a:endParaRPr lang="en-US" sz="1400" dirty="0"/>
          </a:p>
        </p:txBody>
      </p:sp>
      <p:sp>
        <p:nvSpPr>
          <p:cNvPr id="21" name="featpaper-node:66:242"/>
          <p:cNvSpPr/>
          <p:nvPr/>
        </p:nvSpPr>
        <p:spPr>
          <a:xfrm>
            <a:off x="6045200" y="4515409"/>
            <a:ext cx="4211320" cy="190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Fully documented FastAPI REST architecture.</a:t>
            </a:r>
            <a:endParaRPr lang="en-US" sz="1200" dirty="0"/>
          </a:p>
        </p:txBody>
      </p:sp>
      <p:pic>
        <p:nvPicPr>
          <p:cNvPr id="22" name="featpaper-node:66:243" descr="Metric Car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69600" y="3200400"/>
            <a:ext cx="4673600" cy="1765300"/>
          </a:xfrm>
          <a:prstGeom prst="rect">
            <a:avLst/>
          </a:prstGeom>
        </p:spPr>
      </p:pic>
      <p:sp>
        <p:nvSpPr>
          <p:cNvPr id="23" name="featpaper-node:66:244"/>
          <p:cNvSpPr/>
          <p:nvPr/>
        </p:nvSpPr>
        <p:spPr>
          <a:xfrm>
            <a:off x="11023600" y="3447796"/>
            <a:ext cx="363220" cy="635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000" dirty="0">
                <a:solidFill>
                  <a:srgbClr val="00647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3</a:t>
            </a:r>
            <a:endParaRPr lang="en-US" sz="4000" dirty="0"/>
          </a:p>
        </p:txBody>
      </p:sp>
      <p:sp>
        <p:nvSpPr>
          <p:cNvPr id="24" name="featpaper-node:66:245"/>
          <p:cNvSpPr/>
          <p:nvPr/>
        </p:nvSpPr>
        <p:spPr>
          <a:xfrm>
            <a:off x="11023600" y="4196944"/>
            <a:ext cx="13665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Team Members</a:t>
            </a:r>
            <a:endParaRPr lang="en-US" sz="1400" dirty="0"/>
          </a:p>
        </p:txBody>
      </p:sp>
      <p:sp>
        <p:nvSpPr>
          <p:cNvPr id="25" name="featpaper-node:66:246"/>
          <p:cNvSpPr/>
          <p:nvPr/>
        </p:nvSpPr>
        <p:spPr>
          <a:xfrm>
            <a:off x="11023600" y="4515409"/>
            <a:ext cx="4211320" cy="190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Engineers working in synchronized parallel sprints.</a:t>
            </a:r>
            <a:endParaRPr lang="en-US" sz="1200" dirty="0"/>
          </a:p>
        </p:txBody>
      </p:sp>
      <p:pic>
        <p:nvPicPr>
          <p:cNvPr id="26" name="featpaper-node:66:248" descr="Metric Car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0" y="5270500"/>
            <a:ext cx="4673600" cy="1765300"/>
          </a:xfrm>
          <a:prstGeom prst="rect">
            <a:avLst/>
          </a:prstGeom>
        </p:spPr>
      </p:pic>
      <p:sp>
        <p:nvSpPr>
          <p:cNvPr id="27" name="featpaper-node:66:249"/>
          <p:cNvSpPr/>
          <p:nvPr/>
        </p:nvSpPr>
        <p:spPr>
          <a:xfrm>
            <a:off x="1066800" y="5517896"/>
            <a:ext cx="1696720" cy="635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000" dirty="0">
                <a:solidFill>
                  <a:srgbClr val="00647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5 Days</a:t>
            </a:r>
            <a:endParaRPr lang="en-US" sz="4000" dirty="0"/>
          </a:p>
        </p:txBody>
      </p:sp>
      <p:sp>
        <p:nvSpPr>
          <p:cNvPr id="28" name="featpaper-node:66:250"/>
          <p:cNvSpPr/>
          <p:nvPr/>
        </p:nvSpPr>
        <p:spPr>
          <a:xfrm>
            <a:off x="1066800" y="6267044"/>
            <a:ext cx="12141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Zero to Demo</a:t>
            </a:r>
            <a:endParaRPr lang="en-US" sz="1400" dirty="0"/>
          </a:p>
        </p:txBody>
      </p:sp>
      <p:sp>
        <p:nvSpPr>
          <p:cNvPr id="29" name="featpaper-node:66:251"/>
          <p:cNvSpPr/>
          <p:nvPr/>
        </p:nvSpPr>
        <p:spPr>
          <a:xfrm>
            <a:off x="1066800" y="6585509"/>
            <a:ext cx="4211320" cy="190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Rapid, high-fidelity deployment with zero downtime.</a:t>
            </a:r>
            <a:endParaRPr lang="en-US" sz="1200" dirty="0"/>
          </a:p>
        </p:txBody>
      </p:sp>
      <p:pic>
        <p:nvPicPr>
          <p:cNvPr id="30" name="featpaper-node:66:252" descr="Metric Card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91200" y="5270500"/>
            <a:ext cx="4673600" cy="1955800"/>
          </a:xfrm>
          <a:prstGeom prst="rect">
            <a:avLst/>
          </a:prstGeom>
        </p:spPr>
      </p:pic>
      <p:sp>
        <p:nvSpPr>
          <p:cNvPr id="31" name="featpaper-node:66:253"/>
          <p:cNvSpPr/>
          <p:nvPr/>
        </p:nvSpPr>
        <p:spPr>
          <a:xfrm>
            <a:off x="6045200" y="5517896"/>
            <a:ext cx="350520" cy="635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000" dirty="0">
                <a:solidFill>
                  <a:srgbClr val="00647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2</a:t>
            </a:r>
            <a:endParaRPr lang="en-US" sz="4000" dirty="0"/>
          </a:p>
        </p:txBody>
      </p:sp>
      <p:sp>
        <p:nvSpPr>
          <p:cNvPr id="32" name="featpaper-node:66:254"/>
          <p:cNvSpPr/>
          <p:nvPr/>
        </p:nvSpPr>
        <p:spPr>
          <a:xfrm>
            <a:off x="6045200" y="6267044"/>
            <a:ext cx="16332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Platforms Enabled</a:t>
            </a:r>
            <a:endParaRPr lang="en-US" sz="1400" dirty="0"/>
          </a:p>
        </p:txBody>
      </p:sp>
      <p:sp>
        <p:nvSpPr>
          <p:cNvPr id="33" name="featpaper-node:66:255"/>
          <p:cNvSpPr/>
          <p:nvPr/>
        </p:nvSpPr>
        <p:spPr>
          <a:xfrm>
            <a:off x="6045200" y="6585509"/>
            <a:ext cx="4211320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Single Flutter codebase natively rendering Android &amp; Web.</a:t>
            </a:r>
            <a:endParaRPr lang="en-US" sz="1200" dirty="0"/>
          </a:p>
        </p:txBody>
      </p:sp>
      <p:pic>
        <p:nvPicPr>
          <p:cNvPr id="34" name="featpaper-node:66:256" descr="Metric Car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69600" y="5270500"/>
            <a:ext cx="4673600" cy="1765300"/>
          </a:xfrm>
          <a:prstGeom prst="rect">
            <a:avLst/>
          </a:prstGeom>
        </p:spPr>
      </p:pic>
      <p:sp>
        <p:nvSpPr>
          <p:cNvPr id="35" name="featpaper-node:66:257"/>
          <p:cNvSpPr/>
          <p:nvPr/>
        </p:nvSpPr>
        <p:spPr>
          <a:xfrm>
            <a:off x="11023600" y="5517896"/>
            <a:ext cx="1099820" cy="635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000" dirty="0">
                <a:solidFill>
                  <a:srgbClr val="00647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v0.1</a:t>
            </a:r>
            <a:endParaRPr lang="en-US" sz="4000" dirty="0"/>
          </a:p>
        </p:txBody>
      </p:sp>
      <p:sp>
        <p:nvSpPr>
          <p:cNvPr id="36" name="featpaper-node:66:258"/>
          <p:cNvSpPr/>
          <p:nvPr/>
        </p:nvSpPr>
        <p:spPr>
          <a:xfrm>
            <a:off x="11023600" y="6267044"/>
            <a:ext cx="11633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MVP Release</a:t>
            </a:r>
            <a:endParaRPr lang="en-US" sz="1400" dirty="0"/>
          </a:p>
        </p:txBody>
      </p:sp>
      <p:sp>
        <p:nvSpPr>
          <p:cNvPr id="37" name="featpaper-node:66:259"/>
          <p:cNvSpPr/>
          <p:nvPr/>
        </p:nvSpPr>
        <p:spPr>
          <a:xfrm>
            <a:off x="11023600" y="6585509"/>
            <a:ext cx="4211320" cy="190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Stable functional system ready for live demonstration.</a:t>
            </a:r>
            <a:endParaRPr lang="en-US" sz="1200" dirty="0"/>
          </a:p>
        </p:txBody>
      </p:sp>
      <p:pic>
        <p:nvPicPr>
          <p:cNvPr id="38" name="featpaper-node:66:260" descr="Quote Callout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2800" y="7531100"/>
            <a:ext cx="14630400" cy="863600"/>
          </a:xfrm>
          <a:prstGeom prst="rect">
            <a:avLst/>
          </a:prstGeom>
        </p:spPr>
      </p:pic>
      <p:sp>
        <p:nvSpPr>
          <p:cNvPr id="39" name="featpaper-node:66:261"/>
          <p:cNvSpPr/>
          <p:nvPr/>
        </p:nvSpPr>
        <p:spPr>
          <a:xfrm>
            <a:off x="1117600" y="7840878"/>
            <a:ext cx="1406652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15"/>
              </a:lnSpc>
              <a:buNone/>
            </a:pPr>
            <a:r>
              <a:rPr lang="en-US" sz="1600" dirty="0">
                <a:solidFill>
                  <a:srgbClr val="00647F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"From concept to working product in under a week — architecture-first, quality-driven."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eatpaper-node:66:263" descr="slide-roadma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3" name="featpaper-node:66:264" descr="Ellips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00" y="0"/>
            <a:ext cx="5080000" cy="5080000"/>
          </a:xfrm>
          <a:prstGeom prst="rect">
            <a:avLst/>
          </a:prstGeom>
        </p:spPr>
      </p:pic>
      <p:pic>
        <p:nvPicPr>
          <p:cNvPr id="4" name="featpaper-node:66:265" descr="Ellip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34000"/>
            <a:ext cx="3810000" cy="3810000"/>
          </a:xfrm>
          <a:prstGeom prst="rect">
            <a:avLst/>
          </a:prstGeom>
        </p:spPr>
      </p:pic>
      <p:pic>
        <p:nvPicPr>
          <p:cNvPr id="5" name="featpaper-node:66:267" descr="Hea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" y="812800"/>
            <a:ext cx="14630400" cy="711200"/>
          </a:xfrm>
          <a:prstGeom prst="rect">
            <a:avLst/>
          </a:prstGeom>
        </p:spPr>
      </p:pic>
      <p:pic>
        <p:nvPicPr>
          <p:cNvPr id="6" name="featpaper-node:66:269" descr="App Icon Wrappe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0" y="812800"/>
            <a:ext cx="406400" cy="406400"/>
          </a:xfrm>
          <a:prstGeom prst="rect">
            <a:avLst/>
          </a:prstGeom>
        </p:spPr>
      </p:pic>
      <p:pic>
        <p:nvPicPr>
          <p:cNvPr id="7" name="featpaper-node:66:271" descr="Vecto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100" y="918627"/>
            <a:ext cx="177800" cy="186271"/>
          </a:xfrm>
          <a:prstGeom prst="rect">
            <a:avLst/>
          </a:prstGeom>
        </p:spPr>
      </p:pic>
      <p:sp>
        <p:nvSpPr>
          <p:cNvPr id="8" name="featpaper-node:66:272"/>
          <p:cNvSpPr/>
          <p:nvPr/>
        </p:nvSpPr>
        <p:spPr>
          <a:xfrm>
            <a:off x="1371600" y="873963"/>
            <a:ext cx="1366520" cy="2921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70"/>
              </a:lnSpc>
              <a:buNone/>
            </a:pPr>
            <a:r>
              <a:rPr lang="en-US" sz="1800" dirty="0">
                <a:solidFill>
                  <a:srgbClr val="00647F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HomeServe</a:t>
            </a:r>
            <a:endParaRPr lang="en-US" sz="1800" dirty="0"/>
          </a:p>
        </p:txBody>
      </p:sp>
      <p:sp>
        <p:nvSpPr>
          <p:cNvPr id="9" name="featpaper-node:66:273"/>
          <p:cNvSpPr/>
          <p:nvPr/>
        </p:nvSpPr>
        <p:spPr>
          <a:xfrm>
            <a:off x="2844800" y="907644"/>
            <a:ext cx="1346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/</a:t>
            </a:r>
            <a:endParaRPr lang="en-US" sz="1400" dirty="0"/>
          </a:p>
        </p:txBody>
      </p:sp>
      <p:sp>
        <p:nvSpPr>
          <p:cNvPr id="10" name="featpaper-node:66:274"/>
          <p:cNvSpPr/>
          <p:nvPr/>
        </p:nvSpPr>
        <p:spPr>
          <a:xfrm>
            <a:off x="3086100" y="907644"/>
            <a:ext cx="12141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WHAT'S NEXT</a:t>
            </a:r>
            <a:endParaRPr lang="en-US" sz="1400" dirty="0"/>
          </a:p>
        </p:txBody>
      </p:sp>
      <p:sp>
        <p:nvSpPr>
          <p:cNvPr id="11" name="featpaper-node:66:275"/>
          <p:cNvSpPr/>
          <p:nvPr/>
        </p:nvSpPr>
        <p:spPr>
          <a:xfrm>
            <a:off x="15252700" y="907644"/>
            <a:ext cx="2362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14</a:t>
            </a:r>
            <a:endParaRPr lang="en-US" sz="1400" dirty="0"/>
          </a:p>
        </p:txBody>
      </p:sp>
      <p:sp>
        <p:nvSpPr>
          <p:cNvPr id="12" name="featpaper-node:66:277"/>
          <p:cNvSpPr/>
          <p:nvPr/>
        </p:nvSpPr>
        <p:spPr>
          <a:xfrm>
            <a:off x="812800" y="1927657"/>
            <a:ext cx="14676120" cy="508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030"/>
              </a:lnSpc>
              <a:buNone/>
            </a:pPr>
            <a:r>
              <a:rPr lang="en-US" sz="3200" kern="0" spc="-80" dirty="0">
                <a:solidFill>
                  <a:srgbClr val="0F172A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Strategic Roadmap — Sprint 2 &amp; Beyond</a:t>
            </a:r>
            <a:endParaRPr lang="en-US" sz="3200" dirty="0"/>
          </a:p>
        </p:txBody>
      </p:sp>
      <p:sp>
        <p:nvSpPr>
          <p:cNvPr id="13" name="featpaper-node:66:278"/>
          <p:cNvSpPr/>
          <p:nvPr/>
        </p:nvSpPr>
        <p:spPr>
          <a:xfrm>
            <a:off x="812800" y="2544978"/>
            <a:ext cx="1467612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15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Structured plan to scale infrastructure, boost user engagement and integrate payments</a:t>
            </a:r>
            <a:endParaRPr lang="en-US" sz="1600" dirty="0"/>
          </a:p>
        </p:txBody>
      </p:sp>
      <p:pic>
        <p:nvPicPr>
          <p:cNvPr id="14" name="featpaper-node:66:280" descr="Phase Car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0" y="3200400"/>
            <a:ext cx="4673600" cy="5130800"/>
          </a:xfrm>
          <a:prstGeom prst="rect">
            <a:avLst/>
          </a:prstGeom>
        </p:spPr>
      </p:pic>
      <p:sp>
        <p:nvSpPr>
          <p:cNvPr id="15" name="featpaper-node:66:282"/>
          <p:cNvSpPr/>
          <p:nvPr/>
        </p:nvSpPr>
        <p:spPr>
          <a:xfrm>
            <a:off x="1168400" y="3560013"/>
            <a:ext cx="858520" cy="2921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70"/>
              </a:lnSpc>
              <a:buNone/>
            </a:pPr>
            <a:r>
              <a:rPr lang="en-US" sz="1800" dirty="0">
                <a:solidFill>
                  <a:srgbClr val="00647F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Phase 1</a:t>
            </a:r>
            <a:endParaRPr lang="en-US" sz="1800" dirty="0"/>
          </a:p>
        </p:txBody>
      </p:sp>
      <p:pic>
        <p:nvPicPr>
          <p:cNvPr id="16" name="featpaper-node:66:283" descr="Fram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67200" y="3562350"/>
            <a:ext cx="863600" cy="279400"/>
          </a:xfrm>
          <a:prstGeom prst="rect">
            <a:avLst/>
          </a:prstGeom>
        </p:spPr>
      </p:pic>
      <p:sp>
        <p:nvSpPr>
          <p:cNvPr id="17" name="featpaper-node:66:284"/>
          <p:cNvSpPr/>
          <p:nvPr/>
        </p:nvSpPr>
        <p:spPr>
          <a:xfrm>
            <a:off x="4394200" y="3607841"/>
            <a:ext cx="655320" cy="177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85"/>
              </a:lnSpc>
              <a:buNone/>
            </a:pPr>
            <a:r>
              <a:rPr lang="en-US" sz="1100" dirty="0">
                <a:solidFill>
                  <a:srgbClr val="00647F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SPRINT 2</a:t>
            </a:r>
            <a:endParaRPr lang="en-US" sz="1100" dirty="0"/>
          </a:p>
        </p:txBody>
      </p:sp>
      <p:pic>
        <p:nvPicPr>
          <p:cNvPr id="18" name="featpaper-node:66:285" descr="Lin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68400" y="4089400"/>
            <a:ext cx="3962400" cy="12700"/>
          </a:xfrm>
          <a:prstGeom prst="rect">
            <a:avLst/>
          </a:prstGeom>
        </p:spPr>
      </p:pic>
      <p:sp>
        <p:nvSpPr>
          <p:cNvPr id="19" name="featpaper-node:66:288"/>
          <p:cNvSpPr/>
          <p:nvPr/>
        </p:nvSpPr>
        <p:spPr>
          <a:xfrm>
            <a:off x="1168400" y="4362044"/>
            <a:ext cx="18491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• AWS SMS Gateway</a:t>
            </a:r>
            <a:endParaRPr lang="en-US" sz="1400" dirty="0"/>
          </a:p>
        </p:txBody>
      </p:sp>
      <p:sp>
        <p:nvSpPr>
          <p:cNvPr id="20" name="featpaper-node:66:289"/>
          <p:cNvSpPr/>
          <p:nvPr/>
        </p:nvSpPr>
        <p:spPr>
          <a:xfrm>
            <a:off x="1168400" y="4629709"/>
            <a:ext cx="4008120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Transition from mock codes to active OTP phone validation.</a:t>
            </a:r>
            <a:endParaRPr lang="en-US" sz="1200" dirty="0"/>
          </a:p>
        </p:txBody>
      </p:sp>
      <p:sp>
        <p:nvSpPr>
          <p:cNvPr id="21" name="featpaper-node:66:291"/>
          <p:cNvSpPr/>
          <p:nvPr/>
        </p:nvSpPr>
        <p:spPr>
          <a:xfrm>
            <a:off x="1168400" y="5200244"/>
            <a:ext cx="20523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• Live WebSocket Chat</a:t>
            </a:r>
            <a:endParaRPr lang="en-US" sz="1400" dirty="0"/>
          </a:p>
        </p:txBody>
      </p:sp>
      <p:sp>
        <p:nvSpPr>
          <p:cNvPr id="22" name="featpaper-node:66:292"/>
          <p:cNvSpPr/>
          <p:nvPr/>
        </p:nvSpPr>
        <p:spPr>
          <a:xfrm>
            <a:off x="1168400" y="5467909"/>
            <a:ext cx="4008120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Provide seamless communication channels between parties.</a:t>
            </a:r>
            <a:endParaRPr lang="en-US" sz="1200" dirty="0"/>
          </a:p>
        </p:txBody>
      </p:sp>
      <p:sp>
        <p:nvSpPr>
          <p:cNvPr id="23" name="featpaper-node:66:294"/>
          <p:cNvSpPr/>
          <p:nvPr/>
        </p:nvSpPr>
        <p:spPr>
          <a:xfrm>
            <a:off x="1168400" y="6038444"/>
            <a:ext cx="21412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• Real-time GPS Tracker</a:t>
            </a:r>
            <a:endParaRPr lang="en-US" sz="1400" dirty="0"/>
          </a:p>
        </p:txBody>
      </p:sp>
      <p:sp>
        <p:nvSpPr>
          <p:cNvPr id="24" name="featpaper-node:66:295"/>
          <p:cNvSpPr/>
          <p:nvPr/>
        </p:nvSpPr>
        <p:spPr>
          <a:xfrm>
            <a:off x="1168400" y="6306109"/>
            <a:ext cx="4008120" cy="190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Enable live technician location sharing during transit.</a:t>
            </a:r>
            <a:endParaRPr lang="en-US" sz="1200" dirty="0"/>
          </a:p>
        </p:txBody>
      </p:sp>
      <p:pic>
        <p:nvPicPr>
          <p:cNvPr id="25" name="featpaper-node:66:296" descr="Phase Car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1200" y="3200400"/>
            <a:ext cx="4673600" cy="5130800"/>
          </a:xfrm>
          <a:prstGeom prst="rect">
            <a:avLst/>
          </a:prstGeom>
        </p:spPr>
      </p:pic>
      <p:sp>
        <p:nvSpPr>
          <p:cNvPr id="26" name="featpaper-node:66:298"/>
          <p:cNvSpPr/>
          <p:nvPr/>
        </p:nvSpPr>
        <p:spPr>
          <a:xfrm>
            <a:off x="6146800" y="3560013"/>
            <a:ext cx="896620" cy="2921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70"/>
              </a:lnSpc>
              <a:buNone/>
            </a:pPr>
            <a:r>
              <a:rPr lang="en-US" sz="1800" dirty="0">
                <a:solidFill>
                  <a:srgbClr val="00647F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Phase 2</a:t>
            </a:r>
            <a:endParaRPr lang="en-US" sz="1800" dirty="0"/>
          </a:p>
        </p:txBody>
      </p:sp>
      <p:pic>
        <p:nvPicPr>
          <p:cNvPr id="27" name="featpaper-node:66:299" descr="Fram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07500" y="3562350"/>
            <a:ext cx="901700" cy="279400"/>
          </a:xfrm>
          <a:prstGeom prst="rect">
            <a:avLst/>
          </a:prstGeom>
        </p:spPr>
      </p:pic>
      <p:sp>
        <p:nvSpPr>
          <p:cNvPr id="28" name="featpaper-node:66:300"/>
          <p:cNvSpPr/>
          <p:nvPr/>
        </p:nvSpPr>
        <p:spPr>
          <a:xfrm>
            <a:off x="9334500" y="3607841"/>
            <a:ext cx="693420" cy="177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85"/>
              </a:lnSpc>
              <a:buNone/>
            </a:pPr>
            <a:r>
              <a:rPr lang="en-US" sz="1100" dirty="0">
                <a:solidFill>
                  <a:srgbClr val="00647F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MONTH 2</a:t>
            </a:r>
            <a:endParaRPr lang="en-US" sz="1100" dirty="0"/>
          </a:p>
        </p:txBody>
      </p:sp>
      <p:pic>
        <p:nvPicPr>
          <p:cNvPr id="29" name="featpaper-node:66:301" descr="Lin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46800" y="4089400"/>
            <a:ext cx="3962400" cy="12700"/>
          </a:xfrm>
          <a:prstGeom prst="rect">
            <a:avLst/>
          </a:prstGeom>
        </p:spPr>
      </p:pic>
      <p:sp>
        <p:nvSpPr>
          <p:cNvPr id="30" name="featpaper-node:66:304"/>
          <p:cNvSpPr/>
          <p:nvPr/>
        </p:nvSpPr>
        <p:spPr>
          <a:xfrm>
            <a:off x="6146800" y="4362044"/>
            <a:ext cx="19253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• Provider Dashboard</a:t>
            </a:r>
            <a:endParaRPr lang="en-US" sz="1400" dirty="0"/>
          </a:p>
        </p:txBody>
      </p:sp>
      <p:sp>
        <p:nvSpPr>
          <p:cNvPr id="31" name="featpaper-node:66:305"/>
          <p:cNvSpPr/>
          <p:nvPr/>
        </p:nvSpPr>
        <p:spPr>
          <a:xfrm>
            <a:off x="6146800" y="4629709"/>
            <a:ext cx="4008120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Detailed analytics mapping earnings, jobs, and client feedback.</a:t>
            </a:r>
            <a:endParaRPr lang="en-US" sz="1200" dirty="0"/>
          </a:p>
        </p:txBody>
      </p:sp>
      <p:sp>
        <p:nvSpPr>
          <p:cNvPr id="32" name="featpaper-node:66:307"/>
          <p:cNvSpPr/>
          <p:nvPr/>
        </p:nvSpPr>
        <p:spPr>
          <a:xfrm>
            <a:off x="6146800" y="5200244"/>
            <a:ext cx="23190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• Secure Two-Factor Auth</a:t>
            </a:r>
            <a:endParaRPr lang="en-US" sz="1400" dirty="0"/>
          </a:p>
        </p:txBody>
      </p:sp>
      <p:sp>
        <p:nvSpPr>
          <p:cNvPr id="33" name="featpaper-node:66:308"/>
          <p:cNvSpPr/>
          <p:nvPr/>
        </p:nvSpPr>
        <p:spPr>
          <a:xfrm>
            <a:off x="6146800" y="5467909"/>
            <a:ext cx="4008120" cy="190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Deploy robust security procedures for user profiles.</a:t>
            </a:r>
            <a:endParaRPr lang="en-US" sz="1200" dirty="0"/>
          </a:p>
        </p:txBody>
      </p:sp>
      <p:sp>
        <p:nvSpPr>
          <p:cNvPr id="34" name="featpaper-node:66:310"/>
          <p:cNvSpPr/>
          <p:nvPr/>
        </p:nvSpPr>
        <p:spPr>
          <a:xfrm>
            <a:off x="6146800" y="5847944"/>
            <a:ext cx="19126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• Dispute Resolutions</a:t>
            </a:r>
            <a:endParaRPr lang="en-US" sz="1400" dirty="0"/>
          </a:p>
        </p:txBody>
      </p:sp>
      <p:sp>
        <p:nvSpPr>
          <p:cNvPr id="35" name="featpaper-node:66:311"/>
          <p:cNvSpPr/>
          <p:nvPr/>
        </p:nvSpPr>
        <p:spPr>
          <a:xfrm>
            <a:off x="6146800" y="6115609"/>
            <a:ext cx="4008120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Standard ticketing portal facilitating booking escalations.</a:t>
            </a:r>
            <a:endParaRPr lang="en-US" sz="1200" dirty="0"/>
          </a:p>
        </p:txBody>
      </p:sp>
      <p:pic>
        <p:nvPicPr>
          <p:cNvPr id="36" name="featpaper-node:66:312" descr="Phase Car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69600" y="3200400"/>
            <a:ext cx="4673600" cy="5130800"/>
          </a:xfrm>
          <a:prstGeom prst="rect">
            <a:avLst/>
          </a:prstGeom>
        </p:spPr>
      </p:pic>
      <p:sp>
        <p:nvSpPr>
          <p:cNvPr id="37" name="featpaper-node:66:314"/>
          <p:cNvSpPr/>
          <p:nvPr/>
        </p:nvSpPr>
        <p:spPr>
          <a:xfrm>
            <a:off x="11125200" y="3560013"/>
            <a:ext cx="909320" cy="2921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70"/>
              </a:lnSpc>
              <a:buNone/>
            </a:pPr>
            <a:r>
              <a:rPr lang="en-US" sz="1800" dirty="0">
                <a:solidFill>
                  <a:srgbClr val="00647F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Phase 3</a:t>
            </a:r>
            <a:endParaRPr lang="en-US" sz="1800" dirty="0"/>
          </a:p>
        </p:txBody>
      </p:sp>
      <p:pic>
        <p:nvPicPr>
          <p:cNvPr id="38" name="featpaper-node:66:315" descr="Fram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097000" y="3562350"/>
            <a:ext cx="990600" cy="279400"/>
          </a:xfrm>
          <a:prstGeom prst="rect">
            <a:avLst/>
          </a:prstGeom>
        </p:spPr>
      </p:pic>
      <p:sp>
        <p:nvSpPr>
          <p:cNvPr id="39" name="featpaper-node:66:316"/>
          <p:cNvSpPr/>
          <p:nvPr/>
        </p:nvSpPr>
        <p:spPr>
          <a:xfrm>
            <a:off x="14224000" y="3607841"/>
            <a:ext cx="782320" cy="177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85"/>
              </a:lnSpc>
              <a:buNone/>
            </a:pPr>
            <a:r>
              <a:rPr lang="en-US" sz="1100" dirty="0">
                <a:solidFill>
                  <a:srgbClr val="00647F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MONTH 3+</a:t>
            </a:r>
            <a:endParaRPr lang="en-US" sz="1100" dirty="0"/>
          </a:p>
        </p:txBody>
      </p:sp>
      <p:pic>
        <p:nvPicPr>
          <p:cNvPr id="40" name="featpaper-node:66:317" descr="Lin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25200" y="4089400"/>
            <a:ext cx="3962400" cy="12700"/>
          </a:xfrm>
          <a:prstGeom prst="rect">
            <a:avLst/>
          </a:prstGeom>
        </p:spPr>
      </p:pic>
      <p:sp>
        <p:nvSpPr>
          <p:cNvPr id="41" name="featpaper-node:66:320"/>
          <p:cNvSpPr/>
          <p:nvPr/>
        </p:nvSpPr>
        <p:spPr>
          <a:xfrm>
            <a:off x="11125200" y="4362044"/>
            <a:ext cx="18745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• Payment Gateways</a:t>
            </a:r>
            <a:endParaRPr lang="en-US" sz="1400" dirty="0"/>
          </a:p>
        </p:txBody>
      </p:sp>
      <p:sp>
        <p:nvSpPr>
          <p:cNvPr id="42" name="featpaper-node:66:321"/>
          <p:cNvSpPr/>
          <p:nvPr/>
        </p:nvSpPr>
        <p:spPr>
          <a:xfrm>
            <a:off x="11125200" y="4629709"/>
            <a:ext cx="4008120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Direct client billing and automated provider split payout rules.</a:t>
            </a:r>
            <a:endParaRPr lang="en-US" sz="1200" dirty="0"/>
          </a:p>
        </p:txBody>
      </p:sp>
      <p:sp>
        <p:nvSpPr>
          <p:cNvPr id="43" name="featpaper-node:66:323"/>
          <p:cNvSpPr/>
          <p:nvPr/>
        </p:nvSpPr>
        <p:spPr>
          <a:xfrm>
            <a:off x="11125200" y="5200244"/>
            <a:ext cx="20015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• Advanced Calendars</a:t>
            </a:r>
            <a:endParaRPr lang="en-US" sz="1400" dirty="0"/>
          </a:p>
        </p:txBody>
      </p:sp>
      <p:sp>
        <p:nvSpPr>
          <p:cNvPr id="44" name="featpaper-node:66:324"/>
          <p:cNvSpPr/>
          <p:nvPr/>
        </p:nvSpPr>
        <p:spPr>
          <a:xfrm>
            <a:off x="11125200" y="5467909"/>
            <a:ext cx="4008120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Manage availability dynamically with instant automated holds.</a:t>
            </a:r>
            <a:endParaRPr lang="en-US" sz="1200" dirty="0"/>
          </a:p>
        </p:txBody>
      </p:sp>
      <p:sp>
        <p:nvSpPr>
          <p:cNvPr id="45" name="featpaper-node:66:326"/>
          <p:cNvSpPr/>
          <p:nvPr/>
        </p:nvSpPr>
        <p:spPr>
          <a:xfrm>
            <a:off x="11125200" y="6038444"/>
            <a:ext cx="17602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• Push Notifications</a:t>
            </a:r>
            <a:endParaRPr lang="en-US" sz="1400" dirty="0"/>
          </a:p>
        </p:txBody>
      </p:sp>
      <p:sp>
        <p:nvSpPr>
          <p:cNvPr id="46" name="featpaper-node:66:327"/>
          <p:cNvSpPr/>
          <p:nvPr/>
        </p:nvSpPr>
        <p:spPr>
          <a:xfrm>
            <a:off x="11125200" y="6306109"/>
            <a:ext cx="4008120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Keep users updated instantly on service requests and completions.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eatpaper-node:39:566" descr="slide-thank-you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3" name="featpaper-node:39:567" descr="Ellips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00" y="0"/>
            <a:ext cx="5080000" cy="5080000"/>
          </a:xfrm>
          <a:prstGeom prst="rect">
            <a:avLst/>
          </a:prstGeom>
        </p:spPr>
      </p:pic>
      <p:pic>
        <p:nvPicPr>
          <p:cNvPr id="4" name="featpaper-node:39:568" descr="Ellip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34000"/>
            <a:ext cx="3810000" cy="3810000"/>
          </a:xfrm>
          <a:prstGeom prst="rect">
            <a:avLst/>
          </a:prstGeom>
        </p:spPr>
      </p:pic>
      <p:pic>
        <p:nvPicPr>
          <p:cNvPr id="5" name="featpaper-node:39:570" descr="Hea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" y="812800"/>
            <a:ext cx="14630400" cy="711200"/>
          </a:xfrm>
          <a:prstGeom prst="rect">
            <a:avLst/>
          </a:prstGeom>
        </p:spPr>
      </p:pic>
      <p:pic>
        <p:nvPicPr>
          <p:cNvPr id="6" name="featpaper-node:39:572" descr="App Icon Wrappe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0" y="812800"/>
            <a:ext cx="406400" cy="406400"/>
          </a:xfrm>
          <a:prstGeom prst="rect">
            <a:avLst/>
          </a:prstGeom>
        </p:spPr>
      </p:pic>
      <p:pic>
        <p:nvPicPr>
          <p:cNvPr id="7" name="featpaper-node:39:574" descr="Vecto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100" y="918627"/>
            <a:ext cx="177800" cy="186271"/>
          </a:xfrm>
          <a:prstGeom prst="rect">
            <a:avLst/>
          </a:prstGeom>
        </p:spPr>
      </p:pic>
      <p:sp>
        <p:nvSpPr>
          <p:cNvPr id="8" name="featpaper-node:39:575"/>
          <p:cNvSpPr/>
          <p:nvPr/>
        </p:nvSpPr>
        <p:spPr>
          <a:xfrm>
            <a:off x="1371600" y="873963"/>
            <a:ext cx="1366520" cy="2921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70"/>
              </a:lnSpc>
              <a:buNone/>
            </a:pPr>
            <a:r>
              <a:rPr lang="en-US" sz="1800" dirty="0">
                <a:solidFill>
                  <a:srgbClr val="00647F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HomeServe</a:t>
            </a:r>
            <a:endParaRPr lang="en-US" sz="1800" dirty="0"/>
          </a:p>
        </p:txBody>
      </p:sp>
      <p:sp>
        <p:nvSpPr>
          <p:cNvPr id="9" name="featpaper-node:39:576"/>
          <p:cNvSpPr/>
          <p:nvPr/>
        </p:nvSpPr>
        <p:spPr>
          <a:xfrm>
            <a:off x="2844800" y="907644"/>
            <a:ext cx="1346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/</a:t>
            </a:r>
            <a:endParaRPr lang="en-US" sz="1400" dirty="0"/>
          </a:p>
        </p:txBody>
      </p:sp>
      <p:sp>
        <p:nvSpPr>
          <p:cNvPr id="10" name="featpaper-node:39:577"/>
          <p:cNvSpPr/>
          <p:nvPr/>
        </p:nvSpPr>
        <p:spPr>
          <a:xfrm>
            <a:off x="3086100" y="907644"/>
            <a:ext cx="13792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LAUNCH DEMO</a:t>
            </a:r>
            <a:endParaRPr lang="en-US" sz="1400" dirty="0"/>
          </a:p>
        </p:txBody>
      </p:sp>
      <p:sp>
        <p:nvSpPr>
          <p:cNvPr id="11" name="featpaper-node:39:578"/>
          <p:cNvSpPr/>
          <p:nvPr/>
        </p:nvSpPr>
        <p:spPr>
          <a:xfrm>
            <a:off x="15201900" y="907644"/>
            <a:ext cx="2870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09</a:t>
            </a:r>
            <a:endParaRPr lang="en-US" sz="1400" dirty="0"/>
          </a:p>
        </p:txBody>
      </p:sp>
      <p:sp>
        <p:nvSpPr>
          <p:cNvPr id="12" name="featpaper-node:39:580"/>
          <p:cNvSpPr/>
          <p:nvPr/>
        </p:nvSpPr>
        <p:spPr>
          <a:xfrm>
            <a:off x="812800" y="3541674"/>
            <a:ext cx="3411220" cy="901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7055"/>
              </a:lnSpc>
              <a:buNone/>
            </a:pPr>
            <a:r>
              <a:rPr lang="en-US" sz="5600" kern="0" spc="-150" dirty="0">
                <a:solidFill>
                  <a:srgbClr val="00647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13" name="featpaper-node:39:581"/>
          <p:cNvSpPr/>
          <p:nvPr/>
        </p:nvSpPr>
        <p:spPr>
          <a:xfrm>
            <a:off x="812800" y="4650283"/>
            <a:ext cx="744982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7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HomeServe v0.1-MVP — Ready for Live Demonstration</a:t>
            </a:r>
            <a:endParaRPr lang="en-US" sz="2200" dirty="0"/>
          </a:p>
        </p:txBody>
      </p:sp>
      <p:sp>
        <p:nvSpPr>
          <p:cNvPr id="14" name="featpaper-node:39:584"/>
          <p:cNvSpPr/>
          <p:nvPr/>
        </p:nvSpPr>
        <p:spPr>
          <a:xfrm>
            <a:off x="812800" y="7017309"/>
            <a:ext cx="2560320" cy="190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MVP SPRINT DEVELOPMENT TEAM</a:t>
            </a:r>
            <a:endParaRPr lang="en-US" sz="1200" dirty="0"/>
          </a:p>
        </p:txBody>
      </p:sp>
      <p:pic>
        <p:nvPicPr>
          <p:cNvPr id="15" name="featpaper-node:39:586" descr="Member Car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0" y="7416800"/>
            <a:ext cx="3048000" cy="914400"/>
          </a:xfrm>
          <a:prstGeom prst="rect">
            <a:avLst/>
          </a:prstGeom>
        </p:spPr>
      </p:pic>
      <p:pic>
        <p:nvPicPr>
          <p:cNvPr id="16" name="featpaper-node:39:587" descr="C:/Users/01sai/Downloads/saidul.pngsaidul"/>
          <p:cNvPicPr>
            <a:picLocks noChangeAspect="1"/>
          </p:cNvPicPr>
          <p:nvPr/>
        </p:nvPicPr>
        <p:blipFill>
          <a:blip r:embed="rId8"/>
          <a:srcRect t="417" b="417"/>
          <a:stretch>
            <a:fillRect/>
          </a:stretch>
        </p:blipFill>
        <p:spPr>
          <a:xfrm>
            <a:off x="915035" y="7569200"/>
            <a:ext cx="609600" cy="609600"/>
          </a:xfrm>
          <a:prstGeom prst="rect">
            <a:avLst/>
          </a:prstGeom>
        </p:spPr>
      </p:pic>
      <p:sp>
        <p:nvSpPr>
          <p:cNvPr id="17" name="featpaper-node:39:589"/>
          <p:cNvSpPr/>
          <p:nvPr/>
        </p:nvSpPr>
        <p:spPr>
          <a:xfrm>
            <a:off x="1727200" y="7664043"/>
            <a:ext cx="10744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Saidul Islam</a:t>
            </a:r>
            <a:endParaRPr lang="en-US" sz="1400" dirty="0"/>
          </a:p>
        </p:txBody>
      </p:sp>
      <p:sp>
        <p:nvSpPr>
          <p:cNvPr id="18" name="featpaper-node:39:590"/>
          <p:cNvSpPr/>
          <p:nvPr/>
        </p:nvSpPr>
        <p:spPr>
          <a:xfrm>
            <a:off x="1727200" y="7906791"/>
            <a:ext cx="1798320" cy="177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85"/>
              </a:lnSpc>
              <a:buNone/>
            </a:pPr>
            <a:r>
              <a:rPr lang="en-US" sz="1100" dirty="0">
                <a:solidFill>
                  <a:srgbClr val="1B8FB3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Project Lead &amp; Flutter Dev</a:t>
            </a:r>
            <a:endParaRPr lang="en-US" sz="1100" dirty="0"/>
          </a:p>
        </p:txBody>
      </p:sp>
      <p:pic>
        <p:nvPicPr>
          <p:cNvPr id="19" name="featpaper-node:39:591" descr="Member Car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64000" y="7416800"/>
            <a:ext cx="3048000" cy="914400"/>
          </a:xfrm>
          <a:prstGeom prst="rect">
            <a:avLst/>
          </a:prstGeom>
        </p:spPr>
      </p:pic>
      <p:pic>
        <p:nvPicPr>
          <p:cNvPr id="20" name="featpaper-node:39:592" descr="C:/Users/01sai/Downloads/WhatsApp Image 2026-09-22 at 9.12.44 PM.jpegWhatsApp Image 2026-09-22 at 9.12.44 PM"/>
          <p:cNvPicPr>
            <a:picLocks noChangeAspect="1"/>
          </p:cNvPicPr>
          <p:nvPr/>
        </p:nvPicPr>
        <p:blipFill>
          <a:blip r:embed="rId9"/>
          <a:srcRect t="208" b="208"/>
          <a:stretch>
            <a:fillRect/>
          </a:stretch>
        </p:blipFill>
        <p:spPr>
          <a:xfrm>
            <a:off x="4216400" y="7569200"/>
            <a:ext cx="609600" cy="609600"/>
          </a:xfrm>
          <a:prstGeom prst="rect">
            <a:avLst/>
          </a:prstGeom>
        </p:spPr>
      </p:pic>
      <p:sp>
        <p:nvSpPr>
          <p:cNvPr id="21" name="featpaper-node:39:594"/>
          <p:cNvSpPr/>
          <p:nvPr/>
        </p:nvSpPr>
        <p:spPr>
          <a:xfrm>
            <a:off x="4978400" y="7664043"/>
            <a:ext cx="5537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Rabbi</a:t>
            </a:r>
            <a:endParaRPr lang="en-US" sz="1400" dirty="0"/>
          </a:p>
        </p:txBody>
      </p:sp>
      <p:sp>
        <p:nvSpPr>
          <p:cNvPr id="22" name="featpaper-node:39:595"/>
          <p:cNvSpPr/>
          <p:nvPr/>
        </p:nvSpPr>
        <p:spPr>
          <a:xfrm>
            <a:off x="4978400" y="7906791"/>
            <a:ext cx="1379220" cy="177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85"/>
              </a:lnSpc>
              <a:buNone/>
            </a:pPr>
            <a:r>
              <a:rPr lang="en-US" sz="1100" dirty="0">
                <a:solidFill>
                  <a:srgbClr val="1B8FB3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Backend Developer</a:t>
            </a:r>
            <a:endParaRPr lang="en-US" sz="1100" dirty="0"/>
          </a:p>
        </p:txBody>
      </p:sp>
      <p:pic>
        <p:nvPicPr>
          <p:cNvPr id="23" name="featpaper-node:39:596" descr="Member Car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0" y="7416800"/>
            <a:ext cx="3048000" cy="914400"/>
          </a:xfrm>
          <a:prstGeom prst="rect">
            <a:avLst/>
          </a:prstGeom>
        </p:spPr>
      </p:pic>
      <p:pic>
        <p:nvPicPr>
          <p:cNvPr id="24" name="featpaper-node:39:597" descr="C:/Users/01sai/Downloads/my_pic.jpg.jpegmy_pic.jpg"/>
          <p:cNvPicPr>
            <a:picLocks noChangeAspect="1"/>
          </p:cNvPicPr>
          <p:nvPr/>
        </p:nvPicPr>
        <p:blipFill>
          <a:blip r:embed="rId10"/>
          <a:srcRect l="12552" r="12552"/>
          <a:stretch>
            <a:fillRect/>
          </a:stretch>
        </p:blipFill>
        <p:spPr>
          <a:xfrm>
            <a:off x="7467600" y="7569200"/>
            <a:ext cx="609600" cy="609600"/>
          </a:xfrm>
          <a:prstGeom prst="rect">
            <a:avLst/>
          </a:prstGeom>
        </p:spPr>
      </p:pic>
      <p:sp>
        <p:nvSpPr>
          <p:cNvPr id="25" name="featpaper-node:39:599"/>
          <p:cNvSpPr/>
          <p:nvPr/>
        </p:nvSpPr>
        <p:spPr>
          <a:xfrm>
            <a:off x="8229600" y="7664043"/>
            <a:ext cx="4775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Sajib</a:t>
            </a:r>
            <a:endParaRPr lang="en-US" sz="1400" dirty="0"/>
          </a:p>
        </p:txBody>
      </p:sp>
      <p:sp>
        <p:nvSpPr>
          <p:cNvPr id="26" name="featpaper-node:39:600"/>
          <p:cNvSpPr/>
          <p:nvPr/>
        </p:nvSpPr>
        <p:spPr>
          <a:xfrm>
            <a:off x="8229600" y="7906791"/>
            <a:ext cx="1531620" cy="177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85"/>
              </a:lnSpc>
              <a:buNone/>
            </a:pPr>
            <a:r>
              <a:rPr lang="en-US" sz="1100" dirty="0">
                <a:solidFill>
                  <a:srgbClr val="1B8FB3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Architecture Designer</a:t>
            </a:r>
            <a:endParaRPr lang="en-US" sz="1100" dirty="0"/>
          </a:p>
        </p:txBody>
      </p:sp>
      <p:sp>
        <p:nvSpPr>
          <p:cNvPr id="27" name="featpaper-node:39:602"/>
          <p:cNvSpPr/>
          <p:nvPr/>
        </p:nvSpPr>
        <p:spPr>
          <a:xfrm>
            <a:off x="13360400" y="7295743"/>
            <a:ext cx="212852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65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Questions? Let's Demo!</a:t>
            </a:r>
            <a:endParaRPr lang="en-US" sz="1400" dirty="0"/>
          </a:p>
        </p:txBody>
      </p:sp>
      <p:pic>
        <p:nvPicPr>
          <p:cNvPr id="28" name="featpaper-node:39:603" descr="Launch CTA Button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750800" y="7594600"/>
            <a:ext cx="2870200" cy="965200"/>
          </a:xfrm>
          <a:prstGeom prst="rect">
            <a:avLst/>
          </a:prstGeom>
        </p:spPr>
      </p:pic>
      <p:sp>
        <p:nvSpPr>
          <p:cNvPr id="29" name="featpaper-node:39:604"/>
          <p:cNvSpPr/>
          <p:nvPr/>
        </p:nvSpPr>
        <p:spPr>
          <a:xfrm>
            <a:off x="13335000" y="7937398"/>
            <a:ext cx="139192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15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Launch Demo</a:t>
            </a:r>
            <a:endParaRPr lang="en-US" sz="1600" dirty="0"/>
          </a:p>
        </p:txBody>
      </p:sp>
      <p:pic>
        <p:nvPicPr>
          <p:cNvPr id="30" name="featpaper-node:39:606" descr="Vector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846300" y="7937500"/>
            <a:ext cx="183059" cy="17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8561</Words>
  <Application>WPS Presentation</Application>
  <PresentationFormat>On-screen Show (16:9)</PresentationFormat>
  <Paragraphs>622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6" baseType="lpstr">
      <vt:lpstr>Arial</vt:lpstr>
      <vt:lpstr>SimSun</vt:lpstr>
      <vt:lpstr>Wingdings</vt:lpstr>
      <vt:lpstr>Plus Jakarta Sans Bold</vt:lpstr>
      <vt:lpstr>Plus Jakarta Sans Bold</vt:lpstr>
      <vt:lpstr>Plus Jakarta Sans Bold</vt:lpstr>
      <vt:lpstr>Plus Jakarta Sans Medium</vt:lpstr>
      <vt:lpstr>Plus Jakarta Sans Medium</vt:lpstr>
      <vt:lpstr>Plus Jakarta Sans Medium</vt:lpstr>
      <vt:lpstr>Plus Jakarta Sans ExtraBold</vt:lpstr>
      <vt:lpstr>Plus Jakarta Sans ExtraBold</vt:lpstr>
      <vt:lpstr>Plus Jakarta Sans ExtraBold</vt:lpstr>
      <vt:lpstr>Plus Jakarta Sans SemiBold</vt:lpstr>
      <vt:lpstr>Plus Jakarta Sans SemiBold</vt:lpstr>
      <vt:lpstr>Plus Jakarta Sans SemiBold</vt:lpstr>
      <vt:lpstr>Plus Jakarta Sans Regular</vt:lpstr>
      <vt:lpstr>Plus Jakarta Sans Regular</vt:lpstr>
      <vt:lpstr>Plus Jakarta Sans Regular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Saidul Islam</cp:lastModifiedBy>
  <cp:revision>4</cp:revision>
  <dcterms:created xsi:type="dcterms:W3CDTF">2026-09-22T15:08:00Z</dcterms:created>
  <dcterms:modified xsi:type="dcterms:W3CDTF">2026-09-22T15:17:44Z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F298BB899F124B7AB9A6708D103F6D81_12</vt:lpwstr>
  </property>
  <property fmtid="{D5CDD505-2E9C-101B-9397-08002B2CF9AE}" pid="3" name="KSOProductBuildVer">
    <vt:lpwstr>2057-12.2.0.23206</vt:lpwstr>
  </property>
</Properties>
</file>